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y="5145075" cx="9145575"/>
  <p:notesSz cx="6858000" cy="9144000"/>
  <p:embeddedFontLst>
    <p:embeddedFont>
      <p:font typeface="Plus Jakarta Sans"/>
      <p:regular r:id="rId45"/>
      <p:bold r:id="rId46"/>
      <p:italic r:id="rId47"/>
      <p:boldItalic r:id="rId48"/>
    </p:embeddedFont>
    <p:embeddedFont>
      <p:font typeface="Plus Jakarta Sans SemiBold"/>
      <p:regular r:id="rId49"/>
      <p:bold r:id="rId50"/>
      <p:italic r:id="rId51"/>
      <p:boldItalic r:id="rId52"/>
    </p:embeddedFont>
    <p:embeddedFont>
      <p:font typeface="Plus Jakarta Sans Medium"/>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1">
          <p15:clr>
            <a:srgbClr val="000000"/>
          </p15:clr>
        </p15:guide>
        <p15:guide id="2" pos="2881">
          <p15:clr>
            <a:srgbClr val="000000"/>
          </p15:clr>
        </p15:guide>
      </p15:sldGuideLst>
    </p:ext>
    <p:ext uri="GoogleSlidesCustomDataVersion2">
      <go:slidesCustomData xmlns:go="http://customooxmlschemas.google.com/" r:id="rId57" roundtripDataSignature="AMtx7mgOD0uWSJmZz6+Qq71954OmnsQW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B3D9881-8DB4-4D38-A493-048F9DE826AE}">
  <a:tblStyle styleId="{BB3D9881-8DB4-4D38-A493-048F9DE826A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1" orient="horz"/>
        <p:guide pos="288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PlusJakartaSans-bold.fntdata"/><Relationship Id="rId45" Type="http://schemas.openxmlformats.org/officeDocument/2006/relationships/font" Target="fonts/PlusJakartaSans-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PlusJakartaSans-boldItalic.fntdata"/><Relationship Id="rId47" Type="http://schemas.openxmlformats.org/officeDocument/2006/relationships/font" Target="fonts/PlusJakartaSans-italic.fntdata"/><Relationship Id="rId49" Type="http://schemas.openxmlformats.org/officeDocument/2006/relationships/font" Target="fonts/PlusJakartaSansSemiBol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lusJakartaSansSemiBold-italic.fntdata"/><Relationship Id="rId50" Type="http://schemas.openxmlformats.org/officeDocument/2006/relationships/font" Target="fonts/PlusJakartaSansSemiBold-bold.fntdata"/><Relationship Id="rId53" Type="http://schemas.openxmlformats.org/officeDocument/2006/relationships/font" Target="fonts/PlusJakartaSansMedium-regular.fntdata"/><Relationship Id="rId52" Type="http://schemas.openxmlformats.org/officeDocument/2006/relationships/font" Target="fonts/PlusJakartaSansSemiBold-boldItalic.fntdata"/><Relationship Id="rId11" Type="http://schemas.openxmlformats.org/officeDocument/2006/relationships/slide" Target="slides/slide4.xml"/><Relationship Id="rId55" Type="http://schemas.openxmlformats.org/officeDocument/2006/relationships/font" Target="fonts/PlusJakartaSansMedium-italic.fntdata"/><Relationship Id="rId10" Type="http://schemas.openxmlformats.org/officeDocument/2006/relationships/slide" Target="slides/slide3.xml"/><Relationship Id="rId54" Type="http://schemas.openxmlformats.org/officeDocument/2006/relationships/font" Target="fonts/PlusJakartaSansMedium-bold.fntdata"/><Relationship Id="rId13" Type="http://schemas.openxmlformats.org/officeDocument/2006/relationships/slide" Target="slides/slide6.xml"/><Relationship Id="rId57" Type="http://customschemas.google.com/relationships/presentationmetadata" Target="metadata"/><Relationship Id="rId12" Type="http://schemas.openxmlformats.org/officeDocument/2006/relationships/slide" Target="slides/slide5.xml"/><Relationship Id="rId56" Type="http://schemas.openxmlformats.org/officeDocument/2006/relationships/font" Target="fonts/PlusJakartaSansMedium-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6585e5a41e_0_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26585e5a41e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6585e5a41e_0_2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26585e5a41e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6585e5a41e_0_4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26585e5a41e_0_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585e5a41e_0_30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6585e5a41e_0_3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b27239cfa_0_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fb27239cfa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b27239cfa_0_4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fb27239cfa_0_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b27239cfa_0_1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fb27239cfa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7348ee98e6_0_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27348ee98e6_0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b27239cfa_0_6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3fb27239cfa_0_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b27239cfa_0_7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fb27239cfa_0_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7348ee98e6_0_3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27348ee98e6_0_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b27239cfa_0_15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fb27239cfa_0_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b27239cfa_0_23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fb27239cfa_0_2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b27239cfa_0_24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fb27239cfa_0_2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7348ee98e6_0_2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27348ee98e6_0_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b27239cfa_0_9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fb27239cfa_0_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b27239cfa_0_11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fb27239cfa_0_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b27239cfa_0_12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fb27239cfa_0_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7348ee98e6_0_5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g27348ee98e6_0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b27239cfa_0_18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3fb27239cfa_0_1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b2bf11783_0_7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fb2bf11783_0_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b2bf11783_0_8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fb2bf11783_0_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7348ee98e6_0_6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g27348ee98e6_0_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fb27239cfa_0_17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fb27239cfa_0_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b27239cfa_0_19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fb27239cfa_0_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b27239cfa_0_20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3fb27239cfa_0_2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b27239cfa_0_20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fb27239cfa_0_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faa9c63d15_0_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3faa9c63d15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aa9c63d15_0_3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faa9c63d15_0_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aa9c63d15_0_2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3faa9c63d15_0_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faa9c63d15_0_1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faa9c63d15_0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fb2bf11783_0_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g3fb2bf11783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fb2bf11783_0_4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g3fb2bf11783_0_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b2bf11783_0_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3fb2bf11783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b2bf11783_0_5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fb2bf11783_0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b2bf11783_0_5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fb2bf11783_0_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6585e5a41e_0_42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26585e5a41e_0_4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685920" y="1598313"/>
            <a:ext cx="7773750" cy="110285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1"/>
          <p:cNvSpPr txBox="1"/>
          <p:nvPr>
            <p:ph idx="1" type="subTitle"/>
          </p:nvPr>
        </p:nvSpPr>
        <p:spPr>
          <a:xfrm>
            <a:off x="1371839" y="2915550"/>
            <a:ext cx="6401911" cy="1314856"/>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1"/>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1"/>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0"/>
          <p:cNvSpPr txBox="1"/>
          <p:nvPr>
            <p:ph idx="1" type="body"/>
          </p:nvPr>
        </p:nvSpPr>
        <p:spPr>
          <a:xfrm>
            <a:off x="457280" y="1200521"/>
            <a:ext cx="8231030" cy="3395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0"/>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0"/>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0"/>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27" name="Shape 27"/>
        <p:cNvGrpSpPr/>
        <p:nvPr/>
      </p:nvGrpSpPr>
      <p:grpSpPr>
        <a:xfrm>
          <a:off x="0" y="0"/>
          <a:ext cx="0" cy="0"/>
          <a:chOff x="0" y="0"/>
          <a:chExt cx="0" cy="0"/>
        </a:xfrm>
      </p:grpSpPr>
      <p:sp>
        <p:nvSpPr>
          <p:cNvPr id="28" name="Google Shape;28;g142ff3d8b87_1_105"/>
          <p:cNvSpPr txBox="1"/>
          <p:nvPr>
            <p:ph idx="11" type="ftr"/>
          </p:nvPr>
        </p:nvSpPr>
        <p:spPr>
          <a:xfrm>
            <a:off x="3109495" y="4784920"/>
            <a:ext cx="2926800" cy="2574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700"/>
              <a:buNone/>
              <a:defRPr>
                <a:solidFill>
                  <a:srgbClr val="888888"/>
                </a:solidFill>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9" name="Google Shape;29;g142ff3d8b87_1_105"/>
          <p:cNvSpPr txBox="1"/>
          <p:nvPr>
            <p:ph idx="10" type="dt"/>
          </p:nvPr>
        </p:nvSpPr>
        <p:spPr>
          <a:xfrm>
            <a:off x="457279" y="4784920"/>
            <a:ext cx="2103300" cy="257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700"/>
              <a:buNone/>
              <a:defRPr>
                <a:solidFill>
                  <a:srgbClr val="888888"/>
                </a:solidFill>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0" name="Google Shape;30;g142ff3d8b87_1_105"/>
          <p:cNvSpPr txBox="1"/>
          <p:nvPr>
            <p:ph idx="12" type="sldNum"/>
          </p:nvPr>
        </p:nvSpPr>
        <p:spPr>
          <a:xfrm>
            <a:off x="6584814" y="4784920"/>
            <a:ext cx="2103300" cy="1386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2"/>
          <p:cNvSpPr txBox="1"/>
          <p:nvPr>
            <p:ph type="title"/>
          </p:nvPr>
        </p:nvSpPr>
        <p:spPr>
          <a:xfrm>
            <a:off x="722438" y="3306196"/>
            <a:ext cx="7773750" cy="102187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2"/>
          <p:cNvSpPr txBox="1"/>
          <p:nvPr>
            <p:ph idx="1" type="body"/>
          </p:nvPr>
        </p:nvSpPr>
        <p:spPr>
          <a:xfrm>
            <a:off x="722438" y="2180709"/>
            <a:ext cx="7773750" cy="11254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2"/>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2"/>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2"/>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3"/>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3"/>
          <p:cNvSpPr txBox="1"/>
          <p:nvPr>
            <p:ph idx="1" type="body"/>
          </p:nvPr>
        </p:nvSpPr>
        <p:spPr>
          <a:xfrm>
            <a:off x="350899" y="1229105"/>
            <a:ext cx="3083461" cy="3476508"/>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3"/>
          <p:cNvSpPr txBox="1"/>
          <p:nvPr>
            <p:ph idx="2" type="body"/>
          </p:nvPr>
        </p:nvSpPr>
        <p:spPr>
          <a:xfrm>
            <a:off x="3586787" y="1229105"/>
            <a:ext cx="3085047" cy="3476508"/>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3"/>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3"/>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3"/>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4"/>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4"/>
          <p:cNvSpPr txBox="1"/>
          <p:nvPr>
            <p:ph idx="1" type="body"/>
          </p:nvPr>
        </p:nvSpPr>
        <p:spPr>
          <a:xfrm>
            <a:off x="457279" y="1151690"/>
            <a:ext cx="4040890" cy="47997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4"/>
          <p:cNvSpPr txBox="1"/>
          <p:nvPr>
            <p:ph idx="2" type="body"/>
          </p:nvPr>
        </p:nvSpPr>
        <p:spPr>
          <a:xfrm>
            <a:off x="457279" y="1631660"/>
            <a:ext cx="4040890" cy="2964381"/>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4"/>
          <p:cNvSpPr txBox="1"/>
          <p:nvPr>
            <p:ph idx="3" type="body"/>
          </p:nvPr>
        </p:nvSpPr>
        <p:spPr>
          <a:xfrm>
            <a:off x="4645833" y="1151690"/>
            <a:ext cx="4042477" cy="47997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4"/>
          <p:cNvSpPr txBox="1"/>
          <p:nvPr>
            <p:ph idx="4" type="body"/>
          </p:nvPr>
        </p:nvSpPr>
        <p:spPr>
          <a:xfrm>
            <a:off x="4645833" y="1631660"/>
            <a:ext cx="4042477" cy="2964381"/>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4"/>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4"/>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4"/>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5"/>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5"/>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5"/>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6"/>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6"/>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6"/>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7"/>
          <p:cNvSpPr txBox="1"/>
          <p:nvPr>
            <p:ph type="title"/>
          </p:nvPr>
        </p:nvSpPr>
        <p:spPr>
          <a:xfrm>
            <a:off x="457280" y="204851"/>
            <a:ext cx="3008835" cy="87180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7"/>
          <p:cNvSpPr txBox="1"/>
          <p:nvPr>
            <p:ph idx="1" type="body"/>
          </p:nvPr>
        </p:nvSpPr>
        <p:spPr>
          <a:xfrm>
            <a:off x="3575671" y="204852"/>
            <a:ext cx="5112638" cy="439119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5" name="Google Shape;65;p17"/>
          <p:cNvSpPr txBox="1"/>
          <p:nvPr>
            <p:ph idx="2" type="body"/>
          </p:nvPr>
        </p:nvSpPr>
        <p:spPr>
          <a:xfrm>
            <a:off x="457280" y="1076658"/>
            <a:ext cx="3008835" cy="351938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6" name="Google Shape;66;p17"/>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7"/>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7"/>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8"/>
          <p:cNvSpPr txBox="1"/>
          <p:nvPr>
            <p:ph type="title"/>
          </p:nvPr>
        </p:nvSpPr>
        <p:spPr>
          <a:xfrm>
            <a:off x="1792600" y="3601562"/>
            <a:ext cx="5487353" cy="42518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8"/>
          <p:cNvSpPr/>
          <p:nvPr>
            <p:ph idx="2" type="pic"/>
          </p:nvPr>
        </p:nvSpPr>
        <p:spPr>
          <a:xfrm>
            <a:off x="1792600" y="459723"/>
            <a:ext cx="5487353" cy="3087053"/>
          </a:xfrm>
          <a:prstGeom prst="rect">
            <a:avLst/>
          </a:prstGeom>
          <a:noFill/>
          <a:ln>
            <a:noFill/>
          </a:ln>
        </p:spPr>
      </p:sp>
      <p:sp>
        <p:nvSpPr>
          <p:cNvPr id="72" name="Google Shape;72;p18"/>
          <p:cNvSpPr txBox="1"/>
          <p:nvPr>
            <p:ph idx="1" type="body"/>
          </p:nvPr>
        </p:nvSpPr>
        <p:spPr>
          <a:xfrm>
            <a:off x="1792600" y="4026747"/>
            <a:ext cx="5487353" cy="60383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3" name="Google Shape;73;p18"/>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8"/>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8"/>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9"/>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9"/>
          <p:cNvSpPr txBox="1"/>
          <p:nvPr>
            <p:ph idx="1" type="body"/>
          </p:nvPr>
        </p:nvSpPr>
        <p:spPr>
          <a:xfrm rot="5400000">
            <a:off x="2875035" y="-1217234"/>
            <a:ext cx="3395520" cy="823103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19"/>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9"/>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9"/>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20"/>
          <p:cNvSpPr txBox="1"/>
          <p:nvPr>
            <p:ph type="title"/>
          </p:nvPr>
        </p:nvSpPr>
        <p:spPr>
          <a:xfrm rot="5400000">
            <a:off x="3634513" y="1668292"/>
            <a:ext cx="4494806" cy="1579836"/>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0"/>
          <p:cNvSpPr txBox="1"/>
          <p:nvPr>
            <p:ph idx="1" type="body"/>
          </p:nvPr>
        </p:nvSpPr>
        <p:spPr>
          <a:xfrm rot="5400000">
            <a:off x="397832" y="163874"/>
            <a:ext cx="4494806" cy="45886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5" name="Google Shape;85;p20"/>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0"/>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0"/>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sp>
        <p:nvSpPr>
          <p:cNvPr id="93" name="Google Shape;93;g2ad97f235b5_0_171"/>
          <p:cNvSpPr txBox="1"/>
          <p:nvPr>
            <p:ph type="ctrTitle"/>
          </p:nvPr>
        </p:nvSpPr>
        <p:spPr>
          <a:xfrm>
            <a:off x="311762" y="744803"/>
            <a:ext cx="8522100" cy="20532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4" name="Google Shape;94;g2ad97f235b5_0_171"/>
          <p:cNvSpPr txBox="1"/>
          <p:nvPr>
            <p:ph idx="1" type="subTitle"/>
          </p:nvPr>
        </p:nvSpPr>
        <p:spPr>
          <a:xfrm>
            <a:off x="311754" y="2834993"/>
            <a:ext cx="8522100" cy="792900"/>
          </a:xfrm>
          <a:prstGeom prst="rect">
            <a:avLst/>
          </a:prstGeom>
          <a:noFill/>
          <a:ln>
            <a:noFill/>
          </a:ln>
        </p:spPr>
        <p:txBody>
          <a:bodyPr anchorCtr="0" anchor="t" bIns="91450" lIns="91450" spcFirstLastPara="1" rIns="91450" wrap="square" tIns="9145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5" name="Google Shape;95;g2ad97f235b5_0_171"/>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g2ad97f235b5_0_175"/>
          <p:cNvSpPr txBox="1"/>
          <p:nvPr>
            <p:ph type="title"/>
          </p:nvPr>
        </p:nvSpPr>
        <p:spPr>
          <a:xfrm>
            <a:off x="311754" y="2151509"/>
            <a:ext cx="8522100" cy="842100"/>
          </a:xfrm>
          <a:prstGeom prst="rect">
            <a:avLst/>
          </a:prstGeom>
          <a:noFill/>
          <a:ln>
            <a:noFill/>
          </a:ln>
        </p:spPr>
        <p:txBody>
          <a:bodyPr anchorCtr="0" anchor="ctr" bIns="91450" lIns="91450" spcFirstLastPara="1" rIns="91450" wrap="square" tIns="9145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8" name="Google Shape;98;g2ad97f235b5_0_175"/>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 name="Shape 99"/>
        <p:cNvGrpSpPr/>
        <p:nvPr/>
      </p:nvGrpSpPr>
      <p:grpSpPr>
        <a:xfrm>
          <a:off x="0" y="0"/>
          <a:ext cx="0" cy="0"/>
          <a:chOff x="0" y="0"/>
          <a:chExt cx="0" cy="0"/>
        </a:xfrm>
      </p:grpSpPr>
      <p:sp>
        <p:nvSpPr>
          <p:cNvPr id="100" name="Google Shape;100;g2ad97f235b5_0_178"/>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g2ad97f235b5_0_178"/>
          <p:cNvSpPr txBox="1"/>
          <p:nvPr>
            <p:ph idx="1" type="body"/>
          </p:nvPr>
        </p:nvSpPr>
        <p:spPr>
          <a:xfrm>
            <a:off x="311754" y="1152828"/>
            <a:ext cx="8522100" cy="3417300"/>
          </a:xfrm>
          <a:prstGeom prst="rect">
            <a:avLst/>
          </a:prstGeom>
          <a:noFill/>
          <a:ln>
            <a:noFill/>
          </a:ln>
        </p:spPr>
        <p:txBody>
          <a:bodyPr anchorCtr="0" anchor="t" bIns="91450" lIns="91450" spcFirstLastPara="1" rIns="91450" wrap="square" tIns="9145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2" name="Google Shape;102;g2ad97f235b5_0_178"/>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3" name="Shape 103"/>
        <p:cNvGrpSpPr/>
        <p:nvPr/>
      </p:nvGrpSpPr>
      <p:grpSpPr>
        <a:xfrm>
          <a:off x="0" y="0"/>
          <a:ext cx="0" cy="0"/>
          <a:chOff x="0" y="0"/>
          <a:chExt cx="0" cy="0"/>
        </a:xfrm>
      </p:grpSpPr>
      <p:sp>
        <p:nvSpPr>
          <p:cNvPr id="104" name="Google Shape;104;g2ad97f235b5_0_182"/>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5" name="Google Shape;105;g2ad97f235b5_0_182"/>
          <p:cNvSpPr txBox="1"/>
          <p:nvPr>
            <p:ph idx="1" type="body"/>
          </p:nvPr>
        </p:nvSpPr>
        <p:spPr>
          <a:xfrm>
            <a:off x="311754" y="1152828"/>
            <a:ext cx="4000500" cy="3417300"/>
          </a:xfrm>
          <a:prstGeom prst="rect">
            <a:avLst/>
          </a:prstGeom>
          <a:noFill/>
          <a:ln>
            <a:noFill/>
          </a:ln>
        </p:spPr>
        <p:txBody>
          <a:bodyPr anchorCtr="0" anchor="t" bIns="91450" lIns="91450" spcFirstLastPara="1" rIns="91450" wrap="square" tIns="91450">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g2ad97f235b5_0_182"/>
          <p:cNvSpPr txBox="1"/>
          <p:nvPr>
            <p:ph idx="2" type="body"/>
          </p:nvPr>
        </p:nvSpPr>
        <p:spPr>
          <a:xfrm>
            <a:off x="4833232" y="1152828"/>
            <a:ext cx="4000500" cy="3417300"/>
          </a:xfrm>
          <a:prstGeom prst="rect">
            <a:avLst/>
          </a:prstGeom>
          <a:noFill/>
          <a:ln>
            <a:noFill/>
          </a:ln>
        </p:spPr>
        <p:txBody>
          <a:bodyPr anchorCtr="0" anchor="t" bIns="91450" lIns="91450" spcFirstLastPara="1" rIns="91450" wrap="square" tIns="91450">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7" name="Google Shape;107;g2ad97f235b5_0_182"/>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g2ad97f235b5_0_187"/>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 name="Google Shape;110;g2ad97f235b5_0_187"/>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1" name="Shape 111"/>
        <p:cNvGrpSpPr/>
        <p:nvPr/>
      </p:nvGrpSpPr>
      <p:grpSpPr>
        <a:xfrm>
          <a:off x="0" y="0"/>
          <a:ext cx="0" cy="0"/>
          <a:chOff x="0" y="0"/>
          <a:chExt cx="0" cy="0"/>
        </a:xfrm>
      </p:grpSpPr>
      <p:sp>
        <p:nvSpPr>
          <p:cNvPr id="112" name="Google Shape;112;g2ad97f235b5_0_190"/>
          <p:cNvSpPr txBox="1"/>
          <p:nvPr>
            <p:ph type="title"/>
          </p:nvPr>
        </p:nvSpPr>
        <p:spPr>
          <a:xfrm>
            <a:off x="311754" y="555770"/>
            <a:ext cx="2808600" cy="756000"/>
          </a:xfrm>
          <a:prstGeom prst="rect">
            <a:avLst/>
          </a:prstGeom>
          <a:noFill/>
          <a:ln>
            <a:noFill/>
          </a:ln>
        </p:spPr>
        <p:txBody>
          <a:bodyPr anchorCtr="0" anchor="b" bIns="91450" lIns="91450" spcFirstLastPara="1" rIns="91450" wrap="square" tIns="9145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3" name="Google Shape;113;g2ad97f235b5_0_190"/>
          <p:cNvSpPr txBox="1"/>
          <p:nvPr>
            <p:ph idx="1" type="body"/>
          </p:nvPr>
        </p:nvSpPr>
        <p:spPr>
          <a:xfrm>
            <a:off x="311754" y="1390026"/>
            <a:ext cx="2808600" cy="3180300"/>
          </a:xfrm>
          <a:prstGeom prst="rect">
            <a:avLst/>
          </a:prstGeom>
          <a:noFill/>
          <a:ln>
            <a:noFill/>
          </a:ln>
        </p:spPr>
        <p:txBody>
          <a:bodyPr anchorCtr="0" anchor="t" bIns="91450" lIns="91450" spcFirstLastPara="1" rIns="91450" wrap="square" tIns="91450">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4" name="Google Shape;114;g2ad97f235b5_0_190"/>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5" name="Shape 115"/>
        <p:cNvGrpSpPr/>
        <p:nvPr/>
      </p:nvGrpSpPr>
      <p:grpSpPr>
        <a:xfrm>
          <a:off x="0" y="0"/>
          <a:ext cx="0" cy="0"/>
          <a:chOff x="0" y="0"/>
          <a:chExt cx="0" cy="0"/>
        </a:xfrm>
      </p:grpSpPr>
      <p:sp>
        <p:nvSpPr>
          <p:cNvPr id="116" name="Google Shape;116;g2ad97f235b5_0_194"/>
          <p:cNvSpPr txBox="1"/>
          <p:nvPr>
            <p:ph type="title"/>
          </p:nvPr>
        </p:nvSpPr>
        <p:spPr>
          <a:xfrm>
            <a:off x="490334" y="450288"/>
            <a:ext cx="6369000" cy="4092000"/>
          </a:xfrm>
          <a:prstGeom prst="rect">
            <a:avLst/>
          </a:prstGeom>
          <a:noFill/>
          <a:ln>
            <a:noFill/>
          </a:ln>
        </p:spPr>
        <p:txBody>
          <a:bodyPr anchorCtr="0" anchor="ctr" bIns="91450" lIns="91450" spcFirstLastPara="1" rIns="91450" wrap="square" tIns="914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7" name="Google Shape;117;g2ad97f235b5_0_194"/>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8" name="Shape 118"/>
        <p:cNvGrpSpPr/>
        <p:nvPr/>
      </p:nvGrpSpPr>
      <p:grpSpPr>
        <a:xfrm>
          <a:off x="0" y="0"/>
          <a:ext cx="0" cy="0"/>
          <a:chOff x="0" y="0"/>
          <a:chExt cx="0" cy="0"/>
        </a:xfrm>
      </p:grpSpPr>
      <p:sp>
        <p:nvSpPr>
          <p:cNvPr id="119" name="Google Shape;119;g2ad97f235b5_0_197"/>
          <p:cNvSpPr/>
          <p:nvPr/>
        </p:nvSpPr>
        <p:spPr>
          <a:xfrm>
            <a:off x="4572788" y="-125"/>
            <a:ext cx="4572900" cy="5145000"/>
          </a:xfrm>
          <a:prstGeom prst="rect">
            <a:avLst/>
          </a:pr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2ad97f235b5_0_197"/>
          <p:cNvSpPr txBox="1"/>
          <p:nvPr>
            <p:ph type="title"/>
          </p:nvPr>
        </p:nvSpPr>
        <p:spPr>
          <a:xfrm>
            <a:off x="265546" y="1233553"/>
            <a:ext cx="4045800" cy="14829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1" name="Google Shape;121;g2ad97f235b5_0_197"/>
          <p:cNvSpPr txBox="1"/>
          <p:nvPr>
            <p:ph idx="1" type="subTitle"/>
          </p:nvPr>
        </p:nvSpPr>
        <p:spPr>
          <a:xfrm>
            <a:off x="265546" y="2803933"/>
            <a:ext cx="4045800" cy="1235400"/>
          </a:xfrm>
          <a:prstGeom prst="rect">
            <a:avLst/>
          </a:prstGeom>
          <a:noFill/>
          <a:ln>
            <a:noFill/>
          </a:ln>
        </p:spPr>
        <p:txBody>
          <a:bodyPr anchorCtr="0" anchor="t" bIns="91450" lIns="91450" spcFirstLastPara="1" rIns="91450" wrap="square" tIns="9145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g2ad97f235b5_0_197"/>
          <p:cNvSpPr txBox="1"/>
          <p:nvPr>
            <p:ph idx="2" type="body"/>
          </p:nvPr>
        </p:nvSpPr>
        <p:spPr>
          <a:xfrm>
            <a:off x="4940351" y="724297"/>
            <a:ext cx="3837600" cy="3696300"/>
          </a:xfrm>
          <a:prstGeom prst="rect">
            <a:avLst/>
          </a:prstGeom>
          <a:noFill/>
          <a:ln>
            <a:noFill/>
          </a:ln>
        </p:spPr>
        <p:txBody>
          <a:bodyPr anchorCtr="0" anchor="ctr" bIns="91450" lIns="91450" spcFirstLastPara="1" rIns="91450" wrap="square" tIns="9145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3" name="Google Shape;123;g2ad97f235b5_0_197"/>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g2ad97f235b5_0_203"/>
          <p:cNvSpPr txBox="1"/>
          <p:nvPr>
            <p:ph idx="1" type="body"/>
          </p:nvPr>
        </p:nvSpPr>
        <p:spPr>
          <a:xfrm>
            <a:off x="311754" y="4231870"/>
            <a:ext cx="5999700" cy="605400"/>
          </a:xfrm>
          <a:prstGeom prst="rect">
            <a:avLst/>
          </a:prstGeom>
          <a:noFill/>
          <a:ln>
            <a:noFill/>
          </a:ln>
        </p:spPr>
        <p:txBody>
          <a:bodyPr anchorCtr="0" anchor="ctr" bIns="91450" lIns="91450" spcFirstLastPara="1" rIns="91450" wrap="square" tIns="91450">
            <a:normAutofit/>
          </a:bodyPr>
          <a:lstStyle>
            <a:lvl1pPr indent="-228600" lvl="0" marL="457200" algn="l">
              <a:lnSpc>
                <a:spcPct val="100000"/>
              </a:lnSpc>
              <a:spcBef>
                <a:spcPts val="0"/>
              </a:spcBef>
              <a:spcAft>
                <a:spcPts val="0"/>
              </a:spcAft>
              <a:buSzPts val="1800"/>
              <a:buNone/>
              <a:defRPr/>
            </a:lvl1pPr>
          </a:lstStyle>
          <a:p/>
        </p:txBody>
      </p:sp>
      <p:sp>
        <p:nvSpPr>
          <p:cNvPr id="126" name="Google Shape;126;g2ad97f235b5_0_203"/>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g2ad97f235b5_0_206"/>
          <p:cNvSpPr txBox="1"/>
          <p:nvPr>
            <p:ph hasCustomPrompt="1" type="title"/>
          </p:nvPr>
        </p:nvSpPr>
        <p:spPr>
          <a:xfrm>
            <a:off x="311754" y="1106464"/>
            <a:ext cx="8522100" cy="19641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9" name="Google Shape;129;g2ad97f235b5_0_206"/>
          <p:cNvSpPr txBox="1"/>
          <p:nvPr>
            <p:ph idx="1" type="body"/>
          </p:nvPr>
        </p:nvSpPr>
        <p:spPr>
          <a:xfrm>
            <a:off x="311754" y="3153190"/>
            <a:ext cx="8522100" cy="1301100"/>
          </a:xfrm>
          <a:prstGeom prst="rect">
            <a:avLst/>
          </a:prstGeom>
          <a:noFill/>
          <a:ln>
            <a:noFill/>
          </a:ln>
        </p:spPr>
        <p:txBody>
          <a:bodyPr anchorCtr="0" anchor="t" bIns="91450" lIns="91450" spcFirstLastPara="1" rIns="91450" wrap="square" tIns="91450">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30" name="Google Shape;130;g2ad97f235b5_0_206"/>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g2ad97f235b5_0_210"/>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9"/>
          <p:cNvSpPr txBox="1"/>
          <p:nvPr>
            <p:ph idx="1" type="body"/>
          </p:nvPr>
        </p:nvSpPr>
        <p:spPr>
          <a:xfrm>
            <a:off x="457280" y="1200521"/>
            <a:ext cx="8231030" cy="339552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9"/>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9"/>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9"/>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8" name="Shape 88"/>
        <p:cNvGrpSpPr/>
        <p:nvPr/>
      </p:nvGrpSpPr>
      <p:grpSpPr>
        <a:xfrm>
          <a:off x="0" y="0"/>
          <a:ext cx="0" cy="0"/>
          <a:chOff x="0" y="0"/>
          <a:chExt cx="0" cy="0"/>
        </a:xfrm>
      </p:grpSpPr>
      <p:sp>
        <p:nvSpPr>
          <p:cNvPr id="89" name="Google Shape;89;g2ad97f235b5_0_167"/>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0" name="Google Shape;90;g2ad97f235b5_0_167"/>
          <p:cNvSpPr txBox="1"/>
          <p:nvPr>
            <p:ph idx="1" type="body"/>
          </p:nvPr>
        </p:nvSpPr>
        <p:spPr>
          <a:xfrm>
            <a:off x="311754" y="1152828"/>
            <a:ext cx="8522100" cy="3417300"/>
          </a:xfrm>
          <a:prstGeom prst="rect">
            <a:avLst/>
          </a:prstGeom>
          <a:noFill/>
          <a:ln>
            <a:noFill/>
          </a:ln>
        </p:spPr>
        <p:txBody>
          <a:bodyPr anchorCtr="0" anchor="t" bIns="91450" lIns="91450" spcFirstLastPara="1" rIns="91450" wrap="square" tIns="91450">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1" name="Google Shape;91;g2ad97f235b5_0_167"/>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hyperlink" Target="https://www.linkedin.com/in/ahmad-izzan-kautsar/" TargetMode="External"/><Relationship Id="rId5" Type="http://schemas.openxmlformats.org/officeDocument/2006/relationships/hyperlink" Target="https://github.com/ahmadizzan9/olist-delivery-delay-pipeline.g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6" name="Shape 136"/>
        <p:cNvGrpSpPr/>
        <p:nvPr/>
      </p:nvGrpSpPr>
      <p:grpSpPr>
        <a:xfrm>
          <a:off x="0" y="0"/>
          <a:ext cx="0" cy="0"/>
          <a:chOff x="0" y="0"/>
          <a:chExt cx="0" cy="0"/>
        </a:xfrm>
      </p:grpSpPr>
      <p:sp>
        <p:nvSpPr>
          <p:cNvPr id="137" name="Google Shape;137;g26585e5a41e_0_0"/>
          <p:cNvSpPr/>
          <p:nvPr/>
        </p:nvSpPr>
        <p:spPr>
          <a:xfrm>
            <a:off x="-711025" y="1042275"/>
            <a:ext cx="10357200" cy="4102800"/>
          </a:xfrm>
          <a:prstGeom prst="parallelogram">
            <a:avLst>
              <a:gd fmla="val 2885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8" name="Google Shape;138;g26585e5a41e_0_0"/>
          <p:cNvSpPr txBox="1"/>
          <p:nvPr>
            <p:ph type="ctrTitle"/>
          </p:nvPr>
        </p:nvSpPr>
        <p:spPr>
          <a:xfrm>
            <a:off x="406975" y="1743013"/>
            <a:ext cx="8637000" cy="1951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SzPct val="37500"/>
              <a:buNone/>
            </a:pPr>
            <a:r>
              <a:rPr b="1" lang="en-US" sz="4800">
                <a:solidFill>
                  <a:schemeClr val="lt1"/>
                </a:solidFill>
                <a:latin typeface="Plus Jakarta Sans"/>
                <a:ea typeface="Plus Jakarta Sans"/>
                <a:cs typeface="Plus Jakarta Sans"/>
                <a:sym typeface="Plus Jakarta Sans"/>
              </a:rPr>
              <a:t>Batch Data Pipeline &amp; Analisis Delay Pengiriman — Studi Kasus Olist E-Commerce </a:t>
            </a:r>
            <a:endParaRPr b="1" sz="4800">
              <a:solidFill>
                <a:schemeClr val="lt1"/>
              </a:solidFill>
              <a:latin typeface="Plus Jakarta Sans"/>
              <a:ea typeface="Plus Jakarta Sans"/>
              <a:cs typeface="Plus Jakarta Sans"/>
              <a:sym typeface="Plus Jakarta Sans"/>
            </a:endParaRPr>
          </a:p>
        </p:txBody>
      </p:sp>
      <p:sp>
        <p:nvSpPr>
          <p:cNvPr id="139" name="Google Shape;139;g26585e5a41e_0_0"/>
          <p:cNvSpPr txBox="1"/>
          <p:nvPr>
            <p:ph idx="1" type="subTitle"/>
          </p:nvPr>
        </p:nvSpPr>
        <p:spPr>
          <a:xfrm>
            <a:off x="472875" y="3694813"/>
            <a:ext cx="4789500" cy="642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Clr>
                <a:schemeClr val="dk1"/>
              </a:buClr>
              <a:buSzPts val="1100"/>
              <a:buFont typeface="Arial"/>
              <a:buNone/>
            </a:pPr>
            <a:r>
              <a:rPr b="1" lang="en-US" sz="1800">
                <a:solidFill>
                  <a:schemeClr val="lt1"/>
                </a:solidFill>
                <a:latin typeface="Plus Jakarta Sans"/>
                <a:ea typeface="Plus Jakarta Sans"/>
                <a:cs typeface="Plus Jakarta Sans"/>
                <a:sym typeface="Plus Jakarta Sans"/>
              </a:rPr>
              <a:t>Ahmad ‘Izzan Kautsar</a:t>
            </a:r>
            <a:endParaRPr sz="1800">
              <a:solidFill>
                <a:schemeClr val="lt1"/>
              </a:solidFill>
            </a:endParaRPr>
          </a:p>
        </p:txBody>
      </p:sp>
      <p:pic>
        <p:nvPicPr>
          <p:cNvPr id="140" name="Google Shape;140;g26585e5a41e_0_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cxnSp>
        <p:nvCxnSpPr>
          <p:cNvPr id="141" name="Google Shape;141;g26585e5a41e_0_0"/>
          <p:cNvCxnSpPr/>
          <p:nvPr/>
        </p:nvCxnSpPr>
        <p:spPr>
          <a:xfrm>
            <a:off x="472875" y="4163650"/>
            <a:ext cx="3933900" cy="0"/>
          </a:xfrm>
          <a:prstGeom prst="straightConnector1">
            <a:avLst/>
          </a:prstGeom>
          <a:noFill/>
          <a:ln cap="flat" cmpd="sng" w="9525">
            <a:solidFill>
              <a:schemeClr val="lt1"/>
            </a:solidFill>
            <a:prstDash val="solid"/>
            <a:round/>
            <a:headEnd len="sm" w="sm" type="none"/>
            <a:tailEnd len="sm" w="sm" type="none"/>
          </a:ln>
        </p:spPr>
      </p:cxnSp>
      <p:sp>
        <p:nvSpPr>
          <p:cNvPr id="142" name="Google Shape;142;g26585e5a41e_0_0"/>
          <p:cNvSpPr/>
          <p:nvPr/>
        </p:nvSpPr>
        <p:spPr>
          <a:xfrm>
            <a:off x="1007200" y="4102150"/>
            <a:ext cx="611700" cy="123000"/>
          </a:xfrm>
          <a:prstGeom prst="roundRect">
            <a:avLst>
              <a:gd fmla="val 50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 name="Google Shape;143;g26585e5a41e_0_0"/>
          <p:cNvSpPr/>
          <p:nvPr/>
        </p:nvSpPr>
        <p:spPr>
          <a:xfrm rot="-3576283">
            <a:off x="6493220" y="3340796"/>
            <a:ext cx="3038762" cy="3137189"/>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4" name="Google Shape;144;g26585e5a41e_0_0"/>
          <p:cNvSpPr/>
          <p:nvPr/>
        </p:nvSpPr>
        <p:spPr>
          <a:xfrm rot="-1974178">
            <a:off x="6767413" y="3214506"/>
            <a:ext cx="1120545" cy="1120545"/>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8" name="Shape 148"/>
        <p:cNvGrpSpPr/>
        <p:nvPr/>
      </p:nvGrpSpPr>
      <p:grpSpPr>
        <a:xfrm>
          <a:off x="0" y="0"/>
          <a:ext cx="0" cy="0"/>
          <a:chOff x="0" y="0"/>
          <a:chExt cx="0" cy="0"/>
        </a:xfrm>
      </p:grpSpPr>
      <p:pic>
        <p:nvPicPr>
          <p:cNvPr id="149" name="Google Shape;149;g26585e5a41e_0_24"/>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
        <p:nvSpPr>
          <p:cNvPr id="150" name="Google Shape;150;g26585e5a41e_0_24"/>
          <p:cNvSpPr txBox="1"/>
          <p:nvPr/>
        </p:nvSpPr>
        <p:spPr>
          <a:xfrm>
            <a:off x="503685" y="2926431"/>
            <a:ext cx="3000600" cy="446400"/>
          </a:xfrm>
          <a:prstGeom prst="rect">
            <a:avLst/>
          </a:prstGeom>
          <a:noFill/>
          <a:ln>
            <a:noFill/>
          </a:ln>
        </p:spPr>
        <p:txBody>
          <a:bodyPr anchorCtr="0" anchor="t" bIns="91450" lIns="91450" spcFirstLastPara="1" rIns="91450" wrap="square" tIns="91450">
            <a:spAutoFit/>
          </a:bodyPr>
          <a:lstStyle/>
          <a:p>
            <a:pPr indent="0" lvl="0" marL="0" marR="0" rtl="0" algn="l">
              <a:lnSpc>
                <a:spcPct val="135000"/>
              </a:lnSpc>
              <a:spcBef>
                <a:spcPts val="700"/>
              </a:spcBef>
              <a:spcAft>
                <a:spcPts val="0"/>
              </a:spcAft>
              <a:buClr>
                <a:srgbClr val="000000"/>
              </a:buClr>
              <a:buSzPts val="1700"/>
              <a:buFont typeface="Arial"/>
              <a:buNone/>
            </a:pPr>
            <a:r>
              <a:rPr b="1" i="0" lang="en-US" sz="1700" u="none" cap="none" strike="noStrike">
                <a:solidFill>
                  <a:srgbClr val="48A8C4"/>
                </a:solidFill>
                <a:latin typeface="Plus Jakarta Sans"/>
                <a:ea typeface="Plus Jakarta Sans"/>
                <a:cs typeface="Plus Jakarta Sans"/>
                <a:sym typeface="Plus Jakarta Sans"/>
              </a:rPr>
              <a:t>Education</a:t>
            </a:r>
            <a:endParaRPr b="1" i="0" sz="1600" u="none" cap="none" strike="noStrike">
              <a:solidFill>
                <a:srgbClr val="48A8C4"/>
              </a:solidFill>
              <a:latin typeface="Plus Jakarta Sans"/>
              <a:ea typeface="Plus Jakarta Sans"/>
              <a:cs typeface="Plus Jakarta Sans"/>
              <a:sym typeface="Plus Jakarta Sans"/>
            </a:endParaRPr>
          </a:p>
        </p:txBody>
      </p:sp>
      <p:sp>
        <p:nvSpPr>
          <p:cNvPr id="151" name="Google Shape;151;g26585e5a41e_0_24"/>
          <p:cNvSpPr txBox="1"/>
          <p:nvPr/>
        </p:nvSpPr>
        <p:spPr>
          <a:xfrm>
            <a:off x="503675" y="2327500"/>
            <a:ext cx="4158000" cy="577200"/>
          </a:xfrm>
          <a:prstGeom prst="rect">
            <a:avLst/>
          </a:prstGeom>
          <a:noFill/>
          <a:ln>
            <a:noFill/>
          </a:ln>
        </p:spPr>
        <p:txBody>
          <a:bodyPr anchorCtr="0" anchor="t" bIns="91450" lIns="91450" spcFirstLastPara="1" rIns="91450" wrap="square" tIns="91450">
            <a:spAutoFit/>
          </a:bodyPr>
          <a:lstStyle/>
          <a:p>
            <a:pPr indent="0" lvl="0" marL="0" marR="0" rtl="0" algn="l">
              <a:lnSpc>
                <a:spcPct val="85000"/>
              </a:lnSpc>
              <a:spcBef>
                <a:spcPts val="0"/>
              </a:spcBef>
              <a:spcAft>
                <a:spcPts val="0"/>
              </a:spcAft>
              <a:buClr>
                <a:srgbClr val="000000"/>
              </a:buClr>
              <a:buSzPts val="3000"/>
              <a:buFont typeface="Arial"/>
              <a:buNone/>
            </a:pPr>
            <a:r>
              <a:rPr b="1" lang="en-US" sz="3000">
                <a:latin typeface="Plus Jakarta Sans"/>
                <a:ea typeface="Plus Jakarta Sans"/>
                <a:cs typeface="Plus Jakarta Sans"/>
                <a:sym typeface="Plus Jakarta Sans"/>
              </a:rPr>
              <a:t>Ahmad ‘Izzan Kautsar</a:t>
            </a:r>
            <a:endParaRPr b="1" i="0" sz="3000" u="none" cap="none" strike="noStrike">
              <a:solidFill>
                <a:srgbClr val="000000"/>
              </a:solidFill>
              <a:latin typeface="Plus Jakarta Sans"/>
              <a:ea typeface="Plus Jakarta Sans"/>
              <a:cs typeface="Plus Jakarta Sans"/>
              <a:sym typeface="Plus Jakarta Sans"/>
            </a:endParaRPr>
          </a:p>
        </p:txBody>
      </p:sp>
      <p:sp>
        <p:nvSpPr>
          <p:cNvPr id="152" name="Google Shape;152;g26585e5a41e_0_24"/>
          <p:cNvSpPr txBox="1"/>
          <p:nvPr/>
        </p:nvSpPr>
        <p:spPr>
          <a:xfrm>
            <a:off x="503674" y="3260025"/>
            <a:ext cx="3987900" cy="4002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400"/>
              <a:buFont typeface="Arial"/>
              <a:buNone/>
            </a:pPr>
            <a:r>
              <a:rPr i="1" lang="en-US">
                <a:latin typeface="Plus Jakarta Sans Medium"/>
                <a:ea typeface="Plus Jakarta Sans Medium"/>
                <a:cs typeface="Plus Jakarta Sans Medium"/>
                <a:sym typeface="Plus Jakarta Sans Medium"/>
              </a:rPr>
              <a:t>Sistem Informasi - Universitas Brawijaya</a:t>
            </a:r>
            <a:endParaRPr b="0" i="1" sz="1400" u="none" cap="none" strike="noStrike">
              <a:solidFill>
                <a:srgbClr val="000000"/>
              </a:solidFill>
              <a:latin typeface="Plus Jakarta Sans Medium"/>
              <a:ea typeface="Plus Jakarta Sans Medium"/>
              <a:cs typeface="Plus Jakarta Sans Medium"/>
              <a:sym typeface="Plus Jakarta Sans Medium"/>
            </a:endParaRPr>
          </a:p>
        </p:txBody>
      </p:sp>
      <p:pic>
        <p:nvPicPr>
          <p:cNvPr id="153" name="Google Shape;153;g26585e5a41e_0_24"/>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pic>
        <p:nvPicPr>
          <p:cNvPr id="154" name="Google Shape;154;g26585e5a41e_0_24"/>
          <p:cNvPicPr preferRelativeResize="0"/>
          <p:nvPr/>
        </p:nvPicPr>
        <p:blipFill rotWithShape="1">
          <a:blip r:embed="rId4">
            <a:alphaModFix/>
          </a:blip>
          <a:srcRect b="0" l="0" r="0" t="0"/>
          <a:stretch/>
        </p:blipFill>
        <p:spPr>
          <a:xfrm>
            <a:off x="7630763" y="276049"/>
            <a:ext cx="1184604" cy="360062"/>
          </a:xfrm>
          <a:prstGeom prst="rect">
            <a:avLst/>
          </a:prstGeom>
          <a:noFill/>
          <a:ln>
            <a:noFill/>
          </a:ln>
        </p:spPr>
      </p:pic>
      <p:sp>
        <p:nvSpPr>
          <p:cNvPr id="155" name="Google Shape;155;g26585e5a41e_0_24"/>
          <p:cNvSpPr/>
          <p:nvPr/>
        </p:nvSpPr>
        <p:spPr>
          <a:xfrm rot="-3576382">
            <a:off x="-547808" y="-2388310"/>
            <a:ext cx="3914117" cy="3914117"/>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6" name="Google Shape;156;g26585e5a41e_0_24"/>
          <p:cNvSpPr/>
          <p:nvPr/>
        </p:nvSpPr>
        <p:spPr>
          <a:xfrm rot="-4242470">
            <a:off x="7652226" y="408025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7" name="Google Shape;157;g26585e5a41e_0_24"/>
          <p:cNvSpPr/>
          <p:nvPr/>
        </p:nvSpPr>
        <p:spPr>
          <a:xfrm rot="-1974178">
            <a:off x="7551088" y="4092506"/>
            <a:ext cx="1120545" cy="1120545"/>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58" name="Google Shape;158;g26585e5a41e_0_24"/>
          <p:cNvPicPr preferRelativeResize="0"/>
          <p:nvPr/>
        </p:nvPicPr>
        <p:blipFill rotWithShape="1">
          <a:blip r:embed="rId5">
            <a:alphaModFix/>
          </a:blip>
          <a:srcRect b="0" l="0" r="0" t="0"/>
          <a:stretch/>
        </p:blipFill>
        <p:spPr>
          <a:xfrm>
            <a:off x="541800" y="308725"/>
            <a:ext cx="1734900" cy="1734900"/>
          </a:xfrm>
          <a:prstGeom prst="ellipse">
            <a:avLst/>
          </a:prstGeom>
          <a:noFill/>
          <a:ln>
            <a:noFill/>
          </a:ln>
        </p:spPr>
      </p:pic>
      <p:sp>
        <p:nvSpPr>
          <p:cNvPr id="159" name="Google Shape;159;g26585e5a41e_0_24"/>
          <p:cNvSpPr txBox="1"/>
          <p:nvPr/>
        </p:nvSpPr>
        <p:spPr>
          <a:xfrm>
            <a:off x="503685" y="3764631"/>
            <a:ext cx="3000600" cy="446400"/>
          </a:xfrm>
          <a:prstGeom prst="rect">
            <a:avLst/>
          </a:prstGeom>
          <a:noFill/>
          <a:ln>
            <a:noFill/>
          </a:ln>
        </p:spPr>
        <p:txBody>
          <a:bodyPr anchorCtr="0" anchor="t" bIns="91450" lIns="91450" spcFirstLastPara="1" rIns="91450" wrap="square" tIns="91450">
            <a:spAutoFit/>
          </a:bodyPr>
          <a:lstStyle/>
          <a:p>
            <a:pPr indent="0" lvl="0" marL="0" marR="0" rtl="0" algn="l">
              <a:lnSpc>
                <a:spcPct val="135000"/>
              </a:lnSpc>
              <a:spcBef>
                <a:spcPts val="700"/>
              </a:spcBef>
              <a:spcAft>
                <a:spcPts val="0"/>
              </a:spcAft>
              <a:buClr>
                <a:srgbClr val="000000"/>
              </a:buClr>
              <a:buSzPts val="1700"/>
              <a:buFont typeface="Arial"/>
              <a:buNone/>
            </a:pPr>
            <a:r>
              <a:rPr b="1" i="0" lang="en-US" sz="1700" u="none" cap="none" strike="noStrike">
                <a:solidFill>
                  <a:srgbClr val="48A8C4"/>
                </a:solidFill>
                <a:latin typeface="Plus Jakarta Sans"/>
                <a:ea typeface="Plus Jakarta Sans"/>
                <a:cs typeface="Plus Jakarta Sans"/>
                <a:sym typeface="Plus Jakarta Sans"/>
              </a:rPr>
              <a:t>Working</a:t>
            </a:r>
            <a:endParaRPr b="1" i="0" sz="1600" u="none" cap="none" strike="noStrike">
              <a:solidFill>
                <a:srgbClr val="48A8C4"/>
              </a:solidFill>
              <a:latin typeface="Plus Jakarta Sans"/>
              <a:ea typeface="Plus Jakarta Sans"/>
              <a:cs typeface="Plus Jakarta Sans"/>
              <a:sym typeface="Plus Jakarta Sans"/>
            </a:endParaRPr>
          </a:p>
        </p:txBody>
      </p:sp>
      <p:sp>
        <p:nvSpPr>
          <p:cNvPr id="160" name="Google Shape;160;g26585e5a41e_0_24"/>
          <p:cNvSpPr txBox="1"/>
          <p:nvPr/>
        </p:nvSpPr>
        <p:spPr>
          <a:xfrm>
            <a:off x="503678" y="4098225"/>
            <a:ext cx="3078900" cy="4002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400"/>
              <a:buFont typeface="Arial"/>
              <a:buNone/>
            </a:pPr>
            <a:r>
              <a:rPr i="1" lang="en-US">
                <a:latin typeface="Plus Jakarta Sans Medium"/>
                <a:ea typeface="Plus Jakarta Sans Medium"/>
                <a:cs typeface="Plus Jakarta Sans Medium"/>
                <a:sym typeface="Plus Jakarta Sans Medium"/>
              </a:rPr>
              <a:t>-</a:t>
            </a:r>
            <a:endParaRPr b="0" i="1"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1" name="Google Shape;161;g26585e5a41e_0_24"/>
          <p:cNvSpPr txBox="1"/>
          <p:nvPr/>
        </p:nvSpPr>
        <p:spPr>
          <a:xfrm>
            <a:off x="4812260" y="1498381"/>
            <a:ext cx="3000600" cy="446400"/>
          </a:xfrm>
          <a:prstGeom prst="rect">
            <a:avLst/>
          </a:prstGeom>
          <a:noFill/>
          <a:ln>
            <a:noFill/>
          </a:ln>
        </p:spPr>
        <p:txBody>
          <a:bodyPr anchorCtr="0" anchor="t" bIns="91450" lIns="91450" spcFirstLastPara="1" rIns="91450" wrap="square" tIns="91450">
            <a:spAutoFit/>
          </a:bodyPr>
          <a:lstStyle/>
          <a:p>
            <a:pPr indent="0" lvl="0" marL="0" marR="0" rtl="0" algn="l">
              <a:lnSpc>
                <a:spcPct val="135000"/>
              </a:lnSpc>
              <a:spcBef>
                <a:spcPts val="700"/>
              </a:spcBef>
              <a:spcAft>
                <a:spcPts val="0"/>
              </a:spcAft>
              <a:buClr>
                <a:srgbClr val="000000"/>
              </a:buClr>
              <a:buSzPts val="1700"/>
              <a:buFont typeface="Arial"/>
              <a:buNone/>
            </a:pPr>
            <a:r>
              <a:rPr b="1" i="0" lang="en-US" sz="1700" u="none" cap="none" strike="noStrike">
                <a:solidFill>
                  <a:srgbClr val="48A8C4"/>
                </a:solidFill>
                <a:latin typeface="Plus Jakarta Sans"/>
                <a:ea typeface="Plus Jakarta Sans"/>
                <a:cs typeface="Plus Jakarta Sans"/>
                <a:sym typeface="Plus Jakarta Sans"/>
              </a:rPr>
              <a:t>Overview Project</a:t>
            </a:r>
            <a:endParaRPr b="1" i="0" sz="1600" u="none" cap="none" strike="noStrike">
              <a:solidFill>
                <a:srgbClr val="48A8C4"/>
              </a:solidFill>
              <a:latin typeface="Plus Jakarta Sans"/>
              <a:ea typeface="Plus Jakarta Sans"/>
              <a:cs typeface="Plus Jakarta Sans"/>
              <a:sym typeface="Plus Jakarta Sans"/>
            </a:endParaRPr>
          </a:p>
        </p:txBody>
      </p:sp>
      <p:sp>
        <p:nvSpPr>
          <p:cNvPr id="162" name="Google Shape;162;g26585e5a41e_0_24"/>
          <p:cNvSpPr txBox="1"/>
          <p:nvPr/>
        </p:nvSpPr>
        <p:spPr>
          <a:xfrm>
            <a:off x="4812250" y="1881825"/>
            <a:ext cx="4136400" cy="2031900"/>
          </a:xfrm>
          <a:prstGeom prst="rect">
            <a:avLst/>
          </a:prstGeom>
          <a:noFill/>
          <a:ln>
            <a:noFill/>
          </a:ln>
        </p:spPr>
        <p:txBody>
          <a:bodyPr anchorCtr="0" anchor="t" bIns="91425" lIns="91425" spcFirstLastPara="1" rIns="91425" wrap="square" tIns="91425">
            <a:spAutoFit/>
          </a:bodyPr>
          <a:lstStyle/>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Batch pipeline dengan star schema (dim/fact/mart)</a:t>
            </a:r>
            <a:endParaRPr sz="1200">
              <a:solidFill>
                <a:schemeClr val="dk2"/>
              </a:solidFill>
              <a:latin typeface="Plus Jakarta Sans"/>
              <a:ea typeface="Plus Jakarta Sans"/>
              <a:cs typeface="Plus Jakarta Sans"/>
              <a:sym typeface="Plus Jakarta Sans"/>
            </a:endParaRPr>
          </a:p>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Orkestrasi menggunakan Airflow, multi DAG</a:t>
            </a:r>
            <a:endParaRPr sz="1200">
              <a:solidFill>
                <a:schemeClr val="dk2"/>
              </a:solidFill>
              <a:latin typeface="Plus Jakarta Sans"/>
              <a:ea typeface="Plus Jakarta Sans"/>
              <a:cs typeface="Plus Jakarta Sans"/>
              <a:sym typeface="Plus Jakarta Sans"/>
            </a:endParaRPr>
          </a:p>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Transformasi data dengan dbt</a:t>
            </a:r>
            <a:endParaRPr sz="1200">
              <a:solidFill>
                <a:schemeClr val="dk2"/>
              </a:solidFill>
              <a:latin typeface="Plus Jakarta Sans"/>
              <a:ea typeface="Plus Jakarta Sans"/>
              <a:cs typeface="Plus Jakarta Sans"/>
              <a:sym typeface="Plus Jakarta Sans"/>
            </a:endParaRPr>
          </a:p>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Load data sekali (bukan incremental)</a:t>
            </a:r>
            <a:endParaRPr sz="1200">
              <a:solidFill>
                <a:schemeClr val="dk2"/>
              </a:solidFill>
              <a:latin typeface="Plus Jakarta Sans"/>
              <a:ea typeface="Plus Jakarta Sans"/>
              <a:cs typeface="Plus Jakarta Sans"/>
              <a:sym typeface="Plus Jakarta Sans"/>
            </a:endParaRPr>
          </a:p>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Data warehouse di Postgres (dwh) </a:t>
            </a:r>
            <a:endParaRPr sz="1200">
              <a:solidFill>
                <a:schemeClr val="dk2"/>
              </a:solidFill>
              <a:latin typeface="Plus Jakarta Sans"/>
              <a:ea typeface="Plus Jakarta Sans"/>
              <a:cs typeface="Plus Jakarta Sans"/>
              <a:sym typeface="Plus Jakarta Sans"/>
            </a:endParaRPr>
          </a:p>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Data model: Medallion (bronze-silver-gold)</a:t>
            </a:r>
            <a:endParaRPr sz="1200">
              <a:solidFill>
                <a:schemeClr val="dk2"/>
              </a:solidFill>
              <a:latin typeface="Plus Jakarta Sans"/>
              <a:ea typeface="Plus Jakarta Sans"/>
              <a:cs typeface="Plus Jakarta Sans"/>
              <a:sym typeface="Plus Jakarta Sans"/>
            </a:endParaRPr>
          </a:p>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3 mart bisnis: delay-rating impact, performa seller bulanan, delay regional</a:t>
            </a:r>
            <a:endParaRPr sz="1200">
              <a:solidFill>
                <a:schemeClr val="dk2"/>
              </a:solidFill>
              <a:latin typeface="Plus Jakarta Sans"/>
              <a:ea typeface="Plus Jakarta Sans"/>
              <a:cs typeface="Plus Jakarta Sans"/>
              <a:sym typeface="Plus Jakarta Sans"/>
            </a:endParaRPr>
          </a:p>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Visualisasi dashboard dengan Metabase</a:t>
            </a:r>
            <a:endParaRPr sz="1200">
              <a:solidFill>
                <a:schemeClr val="dk2"/>
              </a:solidFill>
              <a:latin typeface="Plus Jakarta Sans"/>
              <a:ea typeface="Plus Jakarta Sans"/>
              <a:cs typeface="Plus Jakarta Sans"/>
              <a:sym typeface="Plus Jakarta Sans"/>
            </a:endParaRPr>
          </a:p>
          <a:p>
            <a:pPr indent="-167640" lvl="0" marL="137160" rtl="0" algn="l">
              <a:spcBef>
                <a:spcPts val="0"/>
              </a:spcBef>
              <a:spcAft>
                <a:spcPts val="0"/>
              </a:spcAft>
              <a:buClr>
                <a:schemeClr val="dk2"/>
              </a:buClr>
              <a:buSzPts val="1200"/>
              <a:buFont typeface="Plus Jakarta Sans"/>
              <a:buChar char="●"/>
            </a:pPr>
            <a:r>
              <a:rPr lang="en-US" sz="1200">
                <a:solidFill>
                  <a:schemeClr val="dk2"/>
                </a:solidFill>
                <a:latin typeface="Plus Jakarta Sans"/>
                <a:ea typeface="Plus Jakarta Sans"/>
                <a:cs typeface="Plus Jakarta Sans"/>
                <a:sym typeface="Plus Jakarta Sans"/>
              </a:rPr>
              <a:t>Seluruh environment dijalankan via Docker Compose</a:t>
            </a:r>
            <a:endParaRPr sz="120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166" name="Shape 166"/>
        <p:cNvGrpSpPr/>
        <p:nvPr/>
      </p:nvGrpSpPr>
      <p:grpSpPr>
        <a:xfrm>
          <a:off x="0" y="0"/>
          <a:ext cx="0" cy="0"/>
          <a:chOff x="0" y="0"/>
          <a:chExt cx="0" cy="0"/>
        </a:xfrm>
      </p:grpSpPr>
      <p:sp>
        <p:nvSpPr>
          <p:cNvPr id="167" name="Google Shape;167;g26585e5a41e_0_43"/>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8" name="Google Shape;168;g26585e5a41e_0_43"/>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9" name="Google Shape;169;g26585e5a41e_0_43"/>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0" name="Google Shape;170;g26585e5a41e_0_43"/>
          <p:cNvSpPr txBox="1"/>
          <p:nvPr>
            <p:ph type="ctrTitle"/>
          </p:nvPr>
        </p:nvSpPr>
        <p:spPr>
          <a:xfrm>
            <a:off x="4776450" y="2352200"/>
            <a:ext cx="40344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chemeClr val="lt1"/>
                </a:solidFill>
                <a:latin typeface="Plus Jakarta Sans"/>
                <a:ea typeface="Plus Jakarta Sans"/>
                <a:cs typeface="Plus Jakarta Sans"/>
                <a:sym typeface="Plus Jakarta Sans"/>
              </a:rPr>
              <a:t>Project Background</a:t>
            </a:r>
            <a:endParaRPr b="1" sz="4800">
              <a:solidFill>
                <a:schemeClr val="lt1"/>
              </a:solidFill>
              <a:latin typeface="Plus Jakarta Sans"/>
              <a:ea typeface="Plus Jakarta Sans"/>
              <a:cs typeface="Plus Jakarta Sans"/>
              <a:sym typeface="Plus Jakarta Sans"/>
            </a:endParaRPr>
          </a:p>
        </p:txBody>
      </p:sp>
      <p:pic>
        <p:nvPicPr>
          <p:cNvPr id="171" name="Google Shape;171;g26585e5a41e_0_43"/>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5" name="Shape 175"/>
        <p:cNvGrpSpPr/>
        <p:nvPr/>
      </p:nvGrpSpPr>
      <p:grpSpPr>
        <a:xfrm>
          <a:off x="0" y="0"/>
          <a:ext cx="0" cy="0"/>
          <a:chOff x="0" y="0"/>
          <a:chExt cx="0" cy="0"/>
        </a:xfrm>
      </p:grpSpPr>
      <p:pic>
        <p:nvPicPr>
          <p:cNvPr id="176" name="Google Shape;176;g26585e5a41e_0_30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77" name="Google Shape;177;g26585e5a41e_0_306"/>
          <p:cNvSpPr txBox="1"/>
          <p:nvPr/>
        </p:nvSpPr>
        <p:spPr>
          <a:xfrm>
            <a:off x="337375" y="1366200"/>
            <a:ext cx="8470800" cy="3417000"/>
          </a:xfrm>
          <a:prstGeom prst="rect">
            <a:avLst/>
          </a:prstGeom>
          <a:noFill/>
          <a:ln>
            <a:noFill/>
          </a:ln>
        </p:spPr>
        <p:txBody>
          <a:bodyPr anchorCtr="0" anchor="t" bIns="91450" lIns="91450" spcFirstLastPara="1" rIns="91450" wrap="square" tIns="91450">
            <a:spAutoFit/>
          </a:bodyPr>
          <a:lstStyle/>
          <a:p>
            <a:pPr indent="0" lvl="0" marL="0" marR="0" rtl="0" algn="l">
              <a:lnSpc>
                <a:spcPct val="100000"/>
              </a:lnSpc>
              <a:spcBef>
                <a:spcPts val="0"/>
              </a:spcBef>
              <a:spcAft>
                <a:spcPts val="0"/>
              </a:spcAft>
              <a:buClr>
                <a:schemeClr val="dk1"/>
              </a:buClr>
              <a:buSzPts val="1100"/>
              <a:buFont typeface="Arial"/>
              <a:buNone/>
            </a:pPr>
            <a:r>
              <a:rPr lang="en-US">
                <a:solidFill>
                  <a:schemeClr val="dk1"/>
                </a:solidFill>
                <a:latin typeface="Plus Jakarta Sans SemiBold"/>
                <a:ea typeface="Plus Jakarta Sans SemiBold"/>
                <a:cs typeface="Plus Jakarta Sans SemiBold"/>
                <a:sym typeface="Plus Jakarta Sans SemiBold"/>
              </a:rPr>
              <a:t>E-commerce modern bergantung pada kepercayaan pelanggan sebagai pondasi keberlangsungan bisnis. Salah satu aspek yang </a:t>
            </a:r>
            <a:r>
              <a:rPr lang="en-US">
                <a:solidFill>
                  <a:schemeClr val="dk1"/>
                </a:solidFill>
                <a:latin typeface="Plus Jakarta Sans SemiBold"/>
                <a:ea typeface="Plus Jakarta Sans SemiBold"/>
                <a:cs typeface="Plus Jakarta Sans SemiBold"/>
                <a:sym typeface="Plus Jakarta Sans SemiBold"/>
              </a:rPr>
              <a:t>mempengaruhi</a:t>
            </a:r>
            <a:r>
              <a:rPr lang="en-US">
                <a:solidFill>
                  <a:schemeClr val="dk1"/>
                </a:solidFill>
                <a:latin typeface="Plus Jakarta Sans SemiBold"/>
                <a:ea typeface="Plus Jakarta Sans SemiBold"/>
                <a:cs typeface="Plus Jakarta Sans SemiBold"/>
                <a:sym typeface="Plus Jakarta Sans SemiBold"/>
              </a:rPr>
              <a:t> sentimen pelanggan terhadap sebuah platform adalah pengalaman pengiriman, khususnya seberapa tepat estimasi pengiriman yang dijanjikan benar-benar dipenuhi. </a:t>
            </a:r>
            <a:endParaRPr>
              <a:solidFill>
                <a:schemeClr val="dk1"/>
              </a:solidFill>
              <a:latin typeface="Plus Jakarta Sans SemiBold"/>
              <a:ea typeface="Plus Jakarta Sans SemiBold"/>
              <a:cs typeface="Plus Jakarta Sans SemiBold"/>
              <a:sym typeface="Plus Jakarta Sans SemiBold"/>
            </a:endParaRPr>
          </a:p>
          <a:p>
            <a:pPr indent="0" lvl="0" marL="0" marR="0" rtl="0" algn="l">
              <a:lnSpc>
                <a:spcPct val="100000"/>
              </a:lnSpc>
              <a:spcBef>
                <a:spcPts val="0"/>
              </a:spcBef>
              <a:spcAft>
                <a:spcPts val="0"/>
              </a:spcAft>
              <a:buClr>
                <a:schemeClr val="dk1"/>
              </a:buClr>
              <a:buSzPts val="1100"/>
              <a:buFont typeface="Arial"/>
              <a:buNone/>
            </a:pPr>
            <a:r>
              <a:t/>
            </a:r>
            <a:endParaRPr>
              <a:solidFill>
                <a:schemeClr val="dk1"/>
              </a:solidFill>
              <a:latin typeface="Plus Jakarta Sans SemiBold"/>
              <a:ea typeface="Plus Jakarta Sans SemiBold"/>
              <a:cs typeface="Plus Jakarta Sans SemiBold"/>
              <a:sym typeface="Plus Jakarta Sans SemiBold"/>
            </a:endParaRPr>
          </a:p>
          <a:p>
            <a:pPr indent="0" lvl="0" marL="0" marR="0" rtl="0" algn="l">
              <a:lnSpc>
                <a:spcPct val="100000"/>
              </a:lnSpc>
              <a:spcBef>
                <a:spcPts val="0"/>
              </a:spcBef>
              <a:spcAft>
                <a:spcPts val="0"/>
              </a:spcAft>
              <a:buClr>
                <a:schemeClr val="dk1"/>
              </a:buClr>
              <a:buSzPts val="1100"/>
              <a:buFont typeface="Arial"/>
              <a:buNone/>
            </a:pPr>
            <a:r>
              <a:rPr lang="en-US">
                <a:solidFill>
                  <a:schemeClr val="dk1"/>
                </a:solidFill>
                <a:latin typeface="Plus Jakarta Sans SemiBold"/>
                <a:ea typeface="Plus Jakarta Sans SemiBold"/>
                <a:cs typeface="Plus Jakarta Sans SemiBold"/>
                <a:sym typeface="Plus Jakarta Sans SemiBold"/>
              </a:rPr>
              <a:t>Dengan trafik transaksi e-commerce yang tinggi setiap harinya, platform membutuhkan sebuah sistem yang mampu secara otomatis menghasilkan laporan performa pengiriman — bukan lagi dievaluasi secara manual atau reaktif setelah keluhan pelanggan muncul. </a:t>
            </a:r>
            <a:endParaRPr>
              <a:solidFill>
                <a:schemeClr val="dk1"/>
              </a:solidFill>
              <a:latin typeface="Plus Jakarta Sans SemiBold"/>
              <a:ea typeface="Plus Jakarta Sans SemiBold"/>
              <a:cs typeface="Plus Jakarta Sans SemiBold"/>
              <a:sym typeface="Plus Jakarta Sans SemiBold"/>
            </a:endParaRPr>
          </a:p>
          <a:p>
            <a:pPr indent="0" lvl="0" marL="0" marR="0" rtl="0" algn="l">
              <a:lnSpc>
                <a:spcPct val="100000"/>
              </a:lnSpc>
              <a:spcBef>
                <a:spcPts val="0"/>
              </a:spcBef>
              <a:spcAft>
                <a:spcPts val="0"/>
              </a:spcAft>
              <a:buClr>
                <a:schemeClr val="dk1"/>
              </a:buClr>
              <a:buSzPts val="1100"/>
              <a:buFont typeface="Arial"/>
              <a:buNone/>
            </a:pPr>
            <a:r>
              <a:t/>
            </a:r>
            <a:endParaRPr>
              <a:solidFill>
                <a:schemeClr val="dk1"/>
              </a:solidFill>
              <a:latin typeface="Plus Jakarta Sans SemiBold"/>
              <a:ea typeface="Plus Jakarta Sans SemiBold"/>
              <a:cs typeface="Plus Jakarta Sans SemiBold"/>
              <a:sym typeface="Plus Jakarta Sans SemiBold"/>
            </a:endParaRPr>
          </a:p>
          <a:p>
            <a:pPr indent="0" lvl="0" marL="0" marR="0" rtl="0" algn="l">
              <a:lnSpc>
                <a:spcPct val="100000"/>
              </a:lnSpc>
              <a:spcBef>
                <a:spcPts val="0"/>
              </a:spcBef>
              <a:spcAft>
                <a:spcPts val="0"/>
              </a:spcAft>
              <a:buClr>
                <a:schemeClr val="dk1"/>
              </a:buClr>
              <a:buSzPts val="1100"/>
              <a:buFont typeface="Arial"/>
              <a:buNone/>
            </a:pPr>
            <a:r>
              <a:rPr lang="en-US">
                <a:solidFill>
                  <a:schemeClr val="dk1"/>
                </a:solidFill>
                <a:latin typeface="Plus Jakarta Sans SemiBold"/>
                <a:ea typeface="Plus Jakarta Sans SemiBold"/>
                <a:cs typeface="Plus Jakarta Sans SemiBold"/>
                <a:sym typeface="Plus Jakarta Sans SemiBold"/>
              </a:rPr>
              <a:t>Untuk mengembangkan solusi ini, diperlukan data yang secara tepat merepresentasikan proses bisnis sebuah platform e-commerce. Kebutuhan tersebut dipenuhi oleh </a:t>
            </a:r>
            <a:r>
              <a:rPr i="1" lang="en-US">
                <a:solidFill>
                  <a:schemeClr val="dk1"/>
                </a:solidFill>
                <a:latin typeface="Plus Jakarta Sans SemiBold"/>
                <a:ea typeface="Plus Jakarta Sans SemiBold"/>
                <a:cs typeface="Plus Jakarta Sans SemiBold"/>
                <a:sym typeface="Plus Jakarta Sans SemiBold"/>
              </a:rPr>
              <a:t>Brazilian E-Commerce Public Dataset</a:t>
            </a:r>
            <a:r>
              <a:rPr lang="en-US">
                <a:solidFill>
                  <a:schemeClr val="dk1"/>
                </a:solidFill>
                <a:latin typeface="Plus Jakarta Sans SemiBold"/>
                <a:ea typeface="Plus Jakarta Sans SemiBold"/>
                <a:cs typeface="Plus Jakarta Sans SemiBold"/>
                <a:sym typeface="Plus Jakarta Sans SemiBold"/>
              </a:rPr>
              <a:t> by Olist. Dataset ini menarik karena, meski bukan e-commerce dalam pengertian umum, datanya bersumber dari ratusan seller independen yang menjual produknya melalui satu etalase terpadu bernama Olist Store — struktur yang merepresentasikan kompleksitas nyata platform marketplace multi-seller. </a:t>
            </a:r>
            <a:endParaRPr i="0" u="none" cap="none" strike="noStrike">
              <a:solidFill>
                <a:srgbClr val="262626"/>
              </a:solidFill>
              <a:latin typeface="Plus Jakarta Sans SemiBold"/>
              <a:ea typeface="Plus Jakarta Sans SemiBold"/>
              <a:cs typeface="Plus Jakarta Sans SemiBold"/>
              <a:sym typeface="Plus Jakarta Sans SemiBold"/>
            </a:endParaRPr>
          </a:p>
        </p:txBody>
      </p:sp>
      <p:sp>
        <p:nvSpPr>
          <p:cNvPr id="178" name="Google Shape;178;g26585e5a41e_0_306"/>
          <p:cNvSpPr txBox="1"/>
          <p:nvPr/>
        </p:nvSpPr>
        <p:spPr>
          <a:xfrm>
            <a:off x="622075" y="658200"/>
            <a:ext cx="67122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Deskripsi </a:t>
            </a:r>
            <a:r>
              <a:rPr b="1" lang="en-US" sz="4000">
                <a:solidFill>
                  <a:srgbClr val="F08B33"/>
                </a:solidFill>
                <a:latin typeface="Plus Jakarta Sans"/>
                <a:ea typeface="Plus Jakarta Sans"/>
                <a:cs typeface="Plus Jakarta Sans"/>
                <a:sym typeface="Plus Jakarta Sans"/>
              </a:rPr>
              <a:t>Background</a:t>
            </a:r>
            <a:endParaRPr b="1" sz="4000">
              <a:solidFill>
                <a:srgbClr val="F08B33"/>
              </a:solidFill>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2" name="Shape 182"/>
        <p:cNvGrpSpPr/>
        <p:nvPr/>
      </p:nvGrpSpPr>
      <p:grpSpPr>
        <a:xfrm>
          <a:off x="0" y="0"/>
          <a:ext cx="0" cy="0"/>
          <a:chOff x="0" y="0"/>
          <a:chExt cx="0" cy="0"/>
        </a:xfrm>
      </p:grpSpPr>
      <p:pic>
        <p:nvPicPr>
          <p:cNvPr id="183" name="Google Shape;183;g3fb27239cfa_0_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84" name="Google Shape;184;g3fb27239cfa_0_8"/>
          <p:cNvSpPr txBox="1"/>
          <p:nvPr/>
        </p:nvSpPr>
        <p:spPr>
          <a:xfrm>
            <a:off x="337375" y="1518600"/>
            <a:ext cx="8470800" cy="8679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chemeClr val="dk1"/>
              </a:buClr>
              <a:buSzPts val="1100"/>
              <a:buFont typeface="Arial"/>
              <a:buNone/>
            </a:pPr>
            <a:r>
              <a:rPr lang="en-US">
                <a:solidFill>
                  <a:schemeClr val="dk1"/>
                </a:solidFill>
                <a:latin typeface="Plus Jakarta Sans SemiBold"/>
                <a:ea typeface="Plus Jakarta Sans SemiBold"/>
                <a:cs typeface="Plus Jakarta Sans SemiBold"/>
                <a:sym typeface="Plus Jakarta Sans SemiBold"/>
              </a:rPr>
              <a:t>Membangun data pipeline yang mengubah data transaksi mentah Olist menjadi informasi terstruktur soal keterlambatan pengiriman, sehingga bisa dianalisis dampaknya terhadap rating dan performa seller </a:t>
            </a:r>
            <a:endParaRPr i="0" u="none" cap="none" strike="noStrike">
              <a:solidFill>
                <a:srgbClr val="262626"/>
              </a:solidFill>
              <a:latin typeface="Plus Jakarta Sans SemiBold"/>
              <a:ea typeface="Plus Jakarta Sans SemiBold"/>
              <a:cs typeface="Plus Jakarta Sans SemiBold"/>
              <a:sym typeface="Plus Jakarta Sans SemiBold"/>
            </a:endParaRPr>
          </a:p>
        </p:txBody>
      </p:sp>
      <p:sp>
        <p:nvSpPr>
          <p:cNvPr id="185" name="Google Shape;185;g3fb27239cfa_0_8"/>
          <p:cNvSpPr txBox="1"/>
          <p:nvPr/>
        </p:nvSpPr>
        <p:spPr>
          <a:xfrm>
            <a:off x="622075" y="658200"/>
            <a:ext cx="67122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Tujuan Utama Project </a:t>
            </a:r>
            <a:endParaRPr b="1" sz="4000">
              <a:solidFill>
                <a:srgbClr val="F08B33"/>
              </a:solidFill>
              <a:latin typeface="Plus Jakarta Sans"/>
              <a:ea typeface="Plus Jakarta Sans"/>
              <a:cs typeface="Plus Jakarta Sans"/>
              <a:sym typeface="Plus Jakarta Sans"/>
            </a:endParaRPr>
          </a:p>
        </p:txBody>
      </p:sp>
      <p:pic>
        <p:nvPicPr>
          <p:cNvPr id="186" name="Google Shape;186;g3fb27239cfa_0_8"/>
          <p:cNvPicPr preferRelativeResize="0"/>
          <p:nvPr/>
        </p:nvPicPr>
        <p:blipFill>
          <a:blip r:embed="rId4">
            <a:alphaModFix/>
          </a:blip>
          <a:stretch>
            <a:fillRect/>
          </a:stretch>
        </p:blipFill>
        <p:spPr>
          <a:xfrm>
            <a:off x="3009875" y="2242275"/>
            <a:ext cx="4128699" cy="2752451"/>
          </a:xfrm>
          <a:prstGeom prst="rect">
            <a:avLst/>
          </a:prstGeom>
          <a:noFill/>
          <a:ln cap="flat" cmpd="sng" w="9525">
            <a:solidFill>
              <a:schemeClr val="accent6"/>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0" name="Shape 190"/>
        <p:cNvGrpSpPr/>
        <p:nvPr/>
      </p:nvGrpSpPr>
      <p:grpSpPr>
        <a:xfrm>
          <a:off x="0" y="0"/>
          <a:ext cx="0" cy="0"/>
          <a:chOff x="0" y="0"/>
          <a:chExt cx="0" cy="0"/>
        </a:xfrm>
      </p:grpSpPr>
      <p:pic>
        <p:nvPicPr>
          <p:cNvPr id="191" name="Google Shape;191;g3fb27239cfa_0_4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92" name="Google Shape;192;g3fb27239cfa_0_45"/>
          <p:cNvSpPr txBox="1"/>
          <p:nvPr/>
        </p:nvSpPr>
        <p:spPr>
          <a:xfrm>
            <a:off x="337375" y="1671000"/>
            <a:ext cx="8470800" cy="1908600"/>
          </a:xfrm>
          <a:prstGeom prst="rect">
            <a:avLst/>
          </a:prstGeom>
          <a:noFill/>
          <a:ln>
            <a:noFill/>
          </a:ln>
        </p:spPr>
        <p:txBody>
          <a:bodyPr anchorCtr="0" anchor="t" bIns="91450" lIns="91450" spcFirstLastPara="1" rIns="91450" wrap="square" tIns="91450">
            <a:spAutoFit/>
          </a:bodyPr>
          <a:lstStyle/>
          <a:p>
            <a:pPr indent="-317500" lvl="0" marL="45720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Keterlambatan pengiriman berdampak langsung ke rating pelanggan — rating rendah menurunkan kepercayaan terhadap platform dan seller</a:t>
            </a:r>
            <a:endParaRPr>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a:solidFill>
                <a:schemeClr val="dk1"/>
              </a:solidFill>
              <a:latin typeface="Plus Jakarta Sans SemiBold"/>
              <a:ea typeface="Plus Jakarta Sans SemiBold"/>
              <a:cs typeface="Plus Jakarta Sans SemiBold"/>
              <a:sym typeface="Plus Jakarta Sans SemiBold"/>
            </a:endParaRPr>
          </a:p>
          <a:p>
            <a:pPr indent="-317500" lvl="0" marL="45720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Tanpa data yang terstruktur, tim operasional tidak bisa mengidentifikasi seller mana atau wilayah mana yang jadi sumber masalah delay secara konsisten </a:t>
            </a:r>
            <a:endParaRPr>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a:solidFill>
                <a:schemeClr val="dk1"/>
              </a:solidFill>
              <a:latin typeface="Plus Jakarta Sans SemiBold"/>
              <a:ea typeface="Plus Jakarta Sans SemiBold"/>
              <a:cs typeface="Plus Jakarta Sans SemiBold"/>
              <a:sym typeface="Plus Jakarta Sans SemiBold"/>
            </a:endParaRPr>
          </a:p>
          <a:p>
            <a:pPr indent="-317500" lvl="0" marL="45720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Data Keterlambatan perlu diproses dengan benar agar tidak menjadi sumber keputusan bisnis yang salah</a:t>
            </a:r>
            <a:endParaRPr>
              <a:solidFill>
                <a:schemeClr val="dk1"/>
              </a:solidFill>
              <a:latin typeface="Plus Jakarta Sans SemiBold"/>
              <a:ea typeface="Plus Jakarta Sans SemiBold"/>
              <a:cs typeface="Plus Jakarta Sans SemiBold"/>
              <a:sym typeface="Plus Jakarta Sans SemiBold"/>
            </a:endParaRPr>
          </a:p>
        </p:txBody>
      </p:sp>
      <p:sp>
        <p:nvSpPr>
          <p:cNvPr id="193" name="Google Shape;193;g3fb27239cfa_0_45"/>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Mengapa project ini penting</a:t>
            </a:r>
            <a:endParaRPr b="1" sz="4000">
              <a:solidFill>
                <a:srgbClr val="F08B33"/>
              </a:solidFill>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7" name="Shape 197"/>
        <p:cNvGrpSpPr/>
        <p:nvPr/>
      </p:nvGrpSpPr>
      <p:grpSpPr>
        <a:xfrm>
          <a:off x="0" y="0"/>
          <a:ext cx="0" cy="0"/>
          <a:chOff x="0" y="0"/>
          <a:chExt cx="0" cy="0"/>
        </a:xfrm>
      </p:grpSpPr>
      <p:pic>
        <p:nvPicPr>
          <p:cNvPr id="198" name="Google Shape;198;g3fb27239cfa_0_1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99" name="Google Shape;199;g3fb27239cfa_0_15"/>
          <p:cNvSpPr txBox="1"/>
          <p:nvPr/>
        </p:nvSpPr>
        <p:spPr>
          <a:xfrm>
            <a:off x="622075" y="582000"/>
            <a:ext cx="67122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Siapa yang Diuntungkan</a:t>
            </a:r>
            <a:endParaRPr b="1" sz="4000">
              <a:solidFill>
                <a:srgbClr val="F08B33"/>
              </a:solidFill>
              <a:latin typeface="Plus Jakarta Sans"/>
              <a:ea typeface="Plus Jakarta Sans"/>
              <a:cs typeface="Plus Jakarta Sans"/>
              <a:sym typeface="Plus Jakarta Sans"/>
            </a:endParaRPr>
          </a:p>
        </p:txBody>
      </p:sp>
      <p:grpSp>
        <p:nvGrpSpPr>
          <p:cNvPr id="200" name="Google Shape;200;g3fb27239cfa_0_15"/>
          <p:cNvGrpSpPr/>
          <p:nvPr/>
        </p:nvGrpSpPr>
        <p:grpSpPr>
          <a:xfrm>
            <a:off x="544275" y="1695550"/>
            <a:ext cx="1791600" cy="1960800"/>
            <a:chOff x="308575" y="1766950"/>
            <a:chExt cx="1791600" cy="1960800"/>
          </a:xfrm>
        </p:grpSpPr>
        <p:sp>
          <p:nvSpPr>
            <p:cNvPr id="201" name="Google Shape;201;g3fb27239cfa_0_15"/>
            <p:cNvSpPr/>
            <p:nvPr/>
          </p:nvSpPr>
          <p:spPr>
            <a:xfrm>
              <a:off x="308575" y="1766950"/>
              <a:ext cx="1791600" cy="510000"/>
            </a:xfrm>
            <a:prstGeom prst="rect">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solidFill>
                    <a:schemeClr val="lt1"/>
                  </a:solidFill>
                  <a:latin typeface="Plus Jakarta Sans SemiBold"/>
                  <a:ea typeface="Plus Jakarta Sans SemiBold"/>
                  <a:cs typeface="Plus Jakarta Sans SemiBold"/>
                  <a:sym typeface="Plus Jakarta Sans SemiBold"/>
                </a:rPr>
                <a:t>Tim operasional platform </a:t>
              </a:r>
              <a:endParaRPr i="0" sz="1400" u="none" cap="none" strike="noStrike">
                <a:solidFill>
                  <a:schemeClr val="lt1"/>
                </a:solidFill>
                <a:latin typeface="Plus Jakarta Sans SemiBold"/>
                <a:ea typeface="Plus Jakarta Sans SemiBold"/>
                <a:cs typeface="Plus Jakarta Sans SemiBold"/>
                <a:sym typeface="Plus Jakarta Sans SemiBold"/>
              </a:endParaRPr>
            </a:p>
          </p:txBody>
        </p:sp>
        <p:sp>
          <p:nvSpPr>
            <p:cNvPr id="202" name="Google Shape;202;g3fb27239cfa_0_15"/>
            <p:cNvSpPr/>
            <p:nvPr/>
          </p:nvSpPr>
          <p:spPr>
            <a:xfrm>
              <a:off x="308575" y="2276950"/>
              <a:ext cx="1791600" cy="1450800"/>
            </a:xfrm>
            <a:prstGeom prst="rect">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03" name="Google Shape;203;g3fb27239cfa_0_15"/>
            <p:cNvSpPr txBox="1"/>
            <p:nvPr/>
          </p:nvSpPr>
          <p:spPr>
            <a:xfrm>
              <a:off x="377875" y="2276950"/>
              <a:ext cx="1653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Sebagai dasar untuk menegur atau membina seller dengan delay tinggi</a:t>
              </a:r>
              <a:endParaRPr>
                <a:solidFill>
                  <a:schemeClr val="dk1"/>
                </a:solidFill>
                <a:latin typeface="Plus Jakarta Sans SemiBold"/>
                <a:ea typeface="Plus Jakarta Sans SemiBold"/>
                <a:cs typeface="Plus Jakarta Sans SemiBold"/>
                <a:sym typeface="Plus Jakarta Sans SemiBold"/>
              </a:endParaRPr>
            </a:p>
          </p:txBody>
        </p:sp>
      </p:grpSp>
      <p:grpSp>
        <p:nvGrpSpPr>
          <p:cNvPr id="204" name="Google Shape;204;g3fb27239cfa_0_15"/>
          <p:cNvGrpSpPr/>
          <p:nvPr/>
        </p:nvGrpSpPr>
        <p:grpSpPr>
          <a:xfrm>
            <a:off x="2632750" y="1695550"/>
            <a:ext cx="1791600" cy="1979400"/>
            <a:chOff x="308575" y="1766950"/>
            <a:chExt cx="1791600" cy="1979400"/>
          </a:xfrm>
        </p:grpSpPr>
        <p:sp>
          <p:nvSpPr>
            <p:cNvPr id="205" name="Google Shape;205;g3fb27239cfa_0_15"/>
            <p:cNvSpPr/>
            <p:nvPr/>
          </p:nvSpPr>
          <p:spPr>
            <a:xfrm>
              <a:off x="308575" y="1766950"/>
              <a:ext cx="1791600" cy="510000"/>
            </a:xfrm>
            <a:prstGeom prst="rect">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solidFill>
                    <a:schemeClr val="lt1"/>
                  </a:solidFill>
                  <a:latin typeface="Plus Jakarta Sans SemiBold"/>
                  <a:ea typeface="Plus Jakarta Sans SemiBold"/>
                  <a:cs typeface="Plus Jakarta Sans SemiBold"/>
                  <a:sym typeface="Plus Jakarta Sans SemiBold"/>
                </a:rPr>
                <a:t>Manajemen / seller relations </a:t>
              </a:r>
              <a:endParaRPr i="0" sz="1400" u="none" cap="none" strike="noStrike">
                <a:solidFill>
                  <a:schemeClr val="lt1"/>
                </a:solidFill>
                <a:latin typeface="Plus Jakarta Sans SemiBold"/>
                <a:ea typeface="Plus Jakarta Sans SemiBold"/>
                <a:cs typeface="Plus Jakarta Sans SemiBold"/>
                <a:sym typeface="Plus Jakarta Sans SemiBold"/>
              </a:endParaRPr>
            </a:p>
          </p:txBody>
        </p:sp>
        <p:sp>
          <p:nvSpPr>
            <p:cNvPr id="206" name="Google Shape;206;g3fb27239cfa_0_15"/>
            <p:cNvSpPr/>
            <p:nvPr/>
          </p:nvSpPr>
          <p:spPr>
            <a:xfrm>
              <a:off x="308575" y="2276950"/>
              <a:ext cx="1791600" cy="1469400"/>
            </a:xfrm>
            <a:prstGeom prst="rect">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07" name="Google Shape;207;g3fb27239cfa_0_15"/>
            <p:cNvSpPr txBox="1"/>
            <p:nvPr/>
          </p:nvSpPr>
          <p:spPr>
            <a:xfrm>
              <a:off x="377875" y="2276950"/>
              <a:ext cx="1653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Evaluasi performa seller bulanan berbasis data, bukan asumsi</a:t>
              </a:r>
              <a:endParaRPr>
                <a:solidFill>
                  <a:schemeClr val="dk1"/>
                </a:solidFill>
                <a:latin typeface="Plus Jakarta Sans SemiBold"/>
                <a:ea typeface="Plus Jakarta Sans SemiBold"/>
                <a:cs typeface="Plus Jakarta Sans SemiBold"/>
                <a:sym typeface="Plus Jakarta Sans SemiBold"/>
              </a:endParaRPr>
            </a:p>
          </p:txBody>
        </p:sp>
      </p:grpSp>
      <p:grpSp>
        <p:nvGrpSpPr>
          <p:cNvPr id="208" name="Google Shape;208;g3fb27239cfa_0_15"/>
          <p:cNvGrpSpPr/>
          <p:nvPr/>
        </p:nvGrpSpPr>
        <p:grpSpPr>
          <a:xfrm>
            <a:off x="4721225" y="1687300"/>
            <a:ext cx="1791600" cy="1987500"/>
            <a:chOff x="308575" y="1766950"/>
            <a:chExt cx="1791600" cy="1987500"/>
          </a:xfrm>
        </p:grpSpPr>
        <p:sp>
          <p:nvSpPr>
            <p:cNvPr id="209" name="Google Shape;209;g3fb27239cfa_0_15"/>
            <p:cNvSpPr/>
            <p:nvPr/>
          </p:nvSpPr>
          <p:spPr>
            <a:xfrm>
              <a:off x="308575" y="1766950"/>
              <a:ext cx="1791600" cy="510000"/>
            </a:xfrm>
            <a:prstGeom prst="rect">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solidFill>
                    <a:schemeClr val="lt1"/>
                  </a:solidFill>
                  <a:latin typeface="Plus Jakarta Sans SemiBold"/>
                  <a:ea typeface="Plus Jakarta Sans SemiBold"/>
                  <a:cs typeface="Plus Jakarta Sans SemiBold"/>
                  <a:sym typeface="Plus Jakarta Sans SemiBold"/>
                </a:rPr>
                <a:t>Tim regional / logistik </a:t>
              </a:r>
              <a:endParaRPr i="0" sz="1400" u="none" cap="none" strike="noStrike">
                <a:solidFill>
                  <a:schemeClr val="lt1"/>
                </a:solidFill>
                <a:latin typeface="Plus Jakarta Sans SemiBold"/>
                <a:ea typeface="Plus Jakarta Sans SemiBold"/>
                <a:cs typeface="Plus Jakarta Sans SemiBold"/>
                <a:sym typeface="Plus Jakarta Sans SemiBold"/>
              </a:endParaRPr>
            </a:p>
          </p:txBody>
        </p:sp>
        <p:sp>
          <p:nvSpPr>
            <p:cNvPr id="210" name="Google Shape;210;g3fb27239cfa_0_15"/>
            <p:cNvSpPr/>
            <p:nvPr/>
          </p:nvSpPr>
          <p:spPr>
            <a:xfrm>
              <a:off x="308575" y="2276950"/>
              <a:ext cx="1791600" cy="1477500"/>
            </a:xfrm>
            <a:prstGeom prst="rect">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1" name="Google Shape;211;g3fb27239cfa_0_15"/>
            <p:cNvSpPr txBox="1"/>
            <p:nvPr/>
          </p:nvSpPr>
          <p:spPr>
            <a:xfrm>
              <a:off x="377875" y="2276950"/>
              <a:ext cx="1653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Identifikasi wilayah dengan delay tertinggi untuk perbaikan rute atau mitra pengiriman </a:t>
              </a:r>
              <a:endParaRPr>
                <a:solidFill>
                  <a:schemeClr val="dk1"/>
                </a:solidFill>
                <a:latin typeface="Plus Jakarta Sans SemiBold"/>
                <a:ea typeface="Plus Jakarta Sans SemiBold"/>
                <a:cs typeface="Plus Jakarta Sans SemiBold"/>
                <a:sym typeface="Plus Jakarta Sans SemiBold"/>
              </a:endParaRPr>
            </a:p>
          </p:txBody>
        </p:sp>
      </p:grpSp>
      <p:grpSp>
        <p:nvGrpSpPr>
          <p:cNvPr id="212" name="Google Shape;212;g3fb27239cfa_0_15"/>
          <p:cNvGrpSpPr/>
          <p:nvPr/>
        </p:nvGrpSpPr>
        <p:grpSpPr>
          <a:xfrm>
            <a:off x="6809700" y="1687387"/>
            <a:ext cx="1791600" cy="1969081"/>
            <a:chOff x="308575" y="1766950"/>
            <a:chExt cx="1791600" cy="1755600"/>
          </a:xfrm>
        </p:grpSpPr>
        <p:sp>
          <p:nvSpPr>
            <p:cNvPr id="213" name="Google Shape;213;g3fb27239cfa_0_15"/>
            <p:cNvSpPr/>
            <p:nvPr/>
          </p:nvSpPr>
          <p:spPr>
            <a:xfrm>
              <a:off x="308575" y="1766950"/>
              <a:ext cx="1791600" cy="510000"/>
            </a:xfrm>
            <a:prstGeom prst="rect">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solidFill>
                    <a:schemeClr val="lt1"/>
                  </a:solidFill>
                  <a:latin typeface="Plus Jakarta Sans SemiBold"/>
                  <a:ea typeface="Plus Jakarta Sans SemiBold"/>
                  <a:cs typeface="Plus Jakarta Sans SemiBold"/>
                  <a:sym typeface="Plus Jakarta Sans SemiBold"/>
                </a:rPr>
                <a:t>Pelanggan</a:t>
              </a:r>
              <a:endParaRPr i="0" sz="1400" u="none" cap="none" strike="noStrike">
                <a:solidFill>
                  <a:schemeClr val="lt1"/>
                </a:solidFill>
                <a:latin typeface="Plus Jakarta Sans SemiBold"/>
                <a:ea typeface="Plus Jakarta Sans SemiBold"/>
                <a:cs typeface="Plus Jakarta Sans SemiBold"/>
                <a:sym typeface="Plus Jakarta Sans SemiBold"/>
              </a:endParaRPr>
            </a:p>
          </p:txBody>
        </p:sp>
        <p:sp>
          <p:nvSpPr>
            <p:cNvPr id="214" name="Google Shape;214;g3fb27239cfa_0_15"/>
            <p:cNvSpPr/>
            <p:nvPr/>
          </p:nvSpPr>
          <p:spPr>
            <a:xfrm>
              <a:off x="308575" y="2276950"/>
              <a:ext cx="1791600" cy="1245600"/>
            </a:xfrm>
            <a:prstGeom prst="rect">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5" name="Google Shape;215;g3fb27239cfa_0_15"/>
            <p:cNvSpPr txBox="1"/>
            <p:nvPr/>
          </p:nvSpPr>
          <p:spPr>
            <a:xfrm>
              <a:off x="377875" y="2276950"/>
              <a:ext cx="1653000" cy="112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Dengan adanya perbaikan sistem pengiriman </a:t>
              </a:r>
              <a:r>
                <a:rPr lang="en-US">
                  <a:solidFill>
                    <a:schemeClr val="dk1"/>
                  </a:solidFill>
                  <a:latin typeface="Plus Jakarta Sans SemiBold"/>
                  <a:ea typeface="Plus Jakarta Sans SemiBold"/>
                  <a:cs typeface="Plus Jakarta Sans SemiBold"/>
                  <a:sym typeface="Plus Jakarta Sans SemiBold"/>
                </a:rPr>
                <a:t>pelanggan</a:t>
              </a:r>
              <a:r>
                <a:rPr lang="en-US">
                  <a:solidFill>
                    <a:schemeClr val="dk1"/>
                  </a:solidFill>
                  <a:latin typeface="Plus Jakarta Sans SemiBold"/>
                  <a:ea typeface="Plus Jakarta Sans SemiBold"/>
                  <a:cs typeface="Plus Jakarta Sans SemiBold"/>
                  <a:sym typeface="Plus Jakarta Sans SemiBold"/>
                </a:rPr>
                <a:t> juga diuntungkan</a:t>
              </a:r>
              <a:endParaRPr>
                <a:solidFill>
                  <a:schemeClr val="dk1"/>
                </a:solidFill>
                <a:latin typeface="Plus Jakarta Sans SemiBold"/>
                <a:ea typeface="Plus Jakarta Sans SemiBold"/>
                <a:cs typeface="Plus Jakarta Sans SemiBold"/>
                <a:sym typeface="Plus Jakarta Sans SemiBold"/>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219" name="Shape 219"/>
        <p:cNvGrpSpPr/>
        <p:nvPr/>
      </p:nvGrpSpPr>
      <p:grpSpPr>
        <a:xfrm>
          <a:off x="0" y="0"/>
          <a:ext cx="0" cy="0"/>
          <a:chOff x="0" y="0"/>
          <a:chExt cx="0" cy="0"/>
        </a:xfrm>
      </p:grpSpPr>
      <p:sp>
        <p:nvSpPr>
          <p:cNvPr id="220" name="Google Shape;220;g27348ee98e6_0_6"/>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1" name="Google Shape;221;g27348ee98e6_0_6"/>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2" name="Google Shape;222;g27348ee98e6_0_6"/>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3" name="Google Shape;223;g27348ee98e6_0_6"/>
          <p:cNvSpPr txBox="1"/>
          <p:nvPr>
            <p:ph type="ctrTitle"/>
          </p:nvPr>
        </p:nvSpPr>
        <p:spPr>
          <a:xfrm>
            <a:off x="4776450" y="2352200"/>
            <a:ext cx="40344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chemeClr val="lt1"/>
                </a:solidFill>
                <a:latin typeface="Plus Jakarta Sans"/>
                <a:ea typeface="Plus Jakarta Sans"/>
                <a:cs typeface="Plus Jakarta Sans"/>
                <a:sym typeface="Plus Jakarta Sans"/>
              </a:rPr>
              <a:t>Problem Statement</a:t>
            </a:r>
            <a:endParaRPr b="1" sz="4800">
              <a:solidFill>
                <a:schemeClr val="lt1"/>
              </a:solidFill>
              <a:latin typeface="Plus Jakarta Sans"/>
              <a:ea typeface="Plus Jakarta Sans"/>
              <a:cs typeface="Plus Jakarta Sans"/>
              <a:sym typeface="Plus Jakarta Sans"/>
            </a:endParaRPr>
          </a:p>
        </p:txBody>
      </p:sp>
      <p:pic>
        <p:nvPicPr>
          <p:cNvPr id="224" name="Google Shape;224;g27348ee98e6_0_6"/>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8" name="Shape 228"/>
        <p:cNvGrpSpPr/>
        <p:nvPr/>
      </p:nvGrpSpPr>
      <p:grpSpPr>
        <a:xfrm>
          <a:off x="0" y="0"/>
          <a:ext cx="0" cy="0"/>
          <a:chOff x="0" y="0"/>
          <a:chExt cx="0" cy="0"/>
        </a:xfrm>
      </p:grpSpPr>
      <p:pic>
        <p:nvPicPr>
          <p:cNvPr id="229" name="Google Shape;229;g3fb27239cfa_0_6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30" name="Google Shape;230;g3fb27239cfa_0_67"/>
          <p:cNvSpPr txBox="1"/>
          <p:nvPr/>
        </p:nvSpPr>
        <p:spPr>
          <a:xfrm>
            <a:off x="337375" y="1518600"/>
            <a:ext cx="8470800" cy="3581700"/>
          </a:xfrm>
          <a:prstGeom prst="rect">
            <a:avLst/>
          </a:prstGeom>
          <a:noFill/>
          <a:ln>
            <a:noFill/>
          </a:ln>
        </p:spPr>
        <p:txBody>
          <a:bodyPr anchorCtr="0" anchor="t" bIns="91450" lIns="91450" spcFirstLastPara="1" rIns="91450" wrap="square" tIns="91450">
            <a:spAutoFit/>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Walaupun sebagian besar order pada platform e-commerce terkirim tepat waktu, keterlambatan pengiriman tidak dapat dipungkiri masih dapat terjadi. Saat ini platform tidak memiliki sistem yang secara sistematis menjawab: seberapa besar dampak keterlambatan tersebut terhadap kepuasan pelanggan, seller mana yang performanya bermasalah dari waktu ke waktu, dan wilayah mana yang paling sering menjadi sumber keterlambatan. Proyek ini membangun data platform batch yang menjawab pertanyaan-pertanyaan berikut: </a:t>
            </a:r>
            <a:endParaRPr>
              <a:solidFill>
                <a:schemeClr val="dk1"/>
              </a:solidFill>
              <a:latin typeface="Plus Jakarta Sans SemiBold"/>
              <a:ea typeface="Plus Jakarta Sans SemiBold"/>
              <a:cs typeface="Plus Jakarta Sans SemiBold"/>
              <a:sym typeface="Plus Jakarta Sans SemiBold"/>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latin typeface="Plus Jakarta Sans SemiBold"/>
                <a:ea typeface="Plus Jakarta Sans SemiBold"/>
                <a:cs typeface="Plus Jakarta Sans SemiBold"/>
                <a:sym typeface="Plus Jakarta Sans SemiBold"/>
              </a:rPr>
              <a:t>Seberapa besar dampak keterlambatan pengiriman terhadap rating pelanggan, dan pada tahap delay mana penurunan rating paling signifikan terjadi. </a:t>
            </a:r>
            <a:endParaRPr>
              <a:solidFill>
                <a:schemeClr val="dk1"/>
              </a:solidFill>
              <a:latin typeface="Plus Jakarta Sans SemiBold"/>
              <a:ea typeface="Plus Jakarta Sans SemiBold"/>
              <a:cs typeface="Plus Jakarta Sans SemiBold"/>
              <a:sym typeface="Plus Jakarta Sans SemiBold"/>
            </a:endParaRPr>
          </a:p>
          <a:p>
            <a:pPr indent="-298450" lvl="0" marL="457200" rtl="0" algn="l">
              <a:lnSpc>
                <a:spcPct val="115000"/>
              </a:lnSpc>
              <a:spcBef>
                <a:spcPts val="0"/>
              </a:spcBef>
              <a:spcAft>
                <a:spcPts val="0"/>
              </a:spcAft>
              <a:buClr>
                <a:schemeClr val="dk1"/>
              </a:buClr>
              <a:buSzPts val="1100"/>
              <a:buChar char="●"/>
            </a:pPr>
            <a:r>
              <a:rPr lang="en-US">
                <a:solidFill>
                  <a:schemeClr val="dk1"/>
                </a:solidFill>
                <a:latin typeface="Plus Jakarta Sans SemiBold"/>
                <a:ea typeface="Plus Jakarta Sans SemiBold"/>
                <a:cs typeface="Plus Jakarta Sans SemiBold"/>
                <a:sym typeface="Plus Jakarta Sans SemiBold"/>
              </a:rPr>
              <a:t>Bagaimana tren performa seller dari kuartal ke kuartal, dan seller mana yang menunjukkan tren penurunan dalam beberapa bulan terakhir.  </a:t>
            </a:r>
            <a:endParaRPr>
              <a:solidFill>
                <a:schemeClr val="dk1"/>
              </a:solidFill>
              <a:latin typeface="Plus Jakarta Sans SemiBold"/>
              <a:ea typeface="Plus Jakarta Sans SemiBold"/>
              <a:cs typeface="Plus Jakarta Sans SemiBold"/>
              <a:sym typeface="Plus Jakarta Sans SemiBold"/>
            </a:endParaRPr>
          </a:p>
          <a:p>
            <a:pPr indent="-298450" lvl="0" marL="457200" rtl="0" algn="l">
              <a:lnSpc>
                <a:spcPct val="115000"/>
              </a:lnSpc>
              <a:spcBef>
                <a:spcPts val="0"/>
              </a:spcBef>
              <a:spcAft>
                <a:spcPts val="0"/>
              </a:spcAft>
              <a:buClr>
                <a:schemeClr val="dk1"/>
              </a:buClr>
              <a:buSzPts val="1100"/>
              <a:buChar char="●"/>
            </a:pPr>
            <a:r>
              <a:rPr lang="en-US">
                <a:solidFill>
                  <a:schemeClr val="dk1"/>
                </a:solidFill>
                <a:latin typeface="Plus Jakarta Sans SemiBold"/>
                <a:ea typeface="Plus Jakarta Sans SemiBold"/>
                <a:cs typeface="Plus Jakarta Sans SemiBold"/>
                <a:sym typeface="Plus Jakarta Sans SemiBold"/>
              </a:rPr>
              <a:t>Wilayah mana yang memiliki tingkat keterlambatan tertinggi (all-time &amp; terbaru), baik dari sisi tujuan pengiriman  maupun asal pengiriman?</a:t>
            </a:r>
            <a:endParaRPr>
              <a:solidFill>
                <a:schemeClr val="dk1"/>
              </a:solidFill>
              <a:latin typeface="Plus Jakarta Sans SemiBold"/>
              <a:ea typeface="Plus Jakarta Sans SemiBold"/>
              <a:cs typeface="Plus Jakarta Sans SemiBold"/>
              <a:sym typeface="Plus Jakarta Sans SemiBold"/>
            </a:endParaRPr>
          </a:p>
          <a:p>
            <a:pPr indent="-298450" lvl="0" marL="457200" rtl="0" algn="l">
              <a:lnSpc>
                <a:spcPct val="115000"/>
              </a:lnSpc>
              <a:spcBef>
                <a:spcPts val="0"/>
              </a:spcBef>
              <a:spcAft>
                <a:spcPts val="0"/>
              </a:spcAft>
              <a:buClr>
                <a:schemeClr val="dk1"/>
              </a:buClr>
              <a:buSzPts val="1100"/>
              <a:buChar char="●"/>
            </a:pPr>
            <a:r>
              <a:rPr lang="en-US">
                <a:solidFill>
                  <a:schemeClr val="dk1"/>
                </a:solidFill>
                <a:latin typeface="Plus Jakarta Sans SemiBold"/>
                <a:ea typeface="Plus Jakarta Sans SemiBold"/>
                <a:cs typeface="Plus Jakarta Sans SemiBold"/>
                <a:sym typeface="Plus Jakarta Sans SemiBold"/>
              </a:rPr>
              <a:t>Bagaimana tren keterlambatan platform secara keseluruhan dari waktu ke waktu — membaik atau memburuk?</a:t>
            </a:r>
            <a:endParaRPr>
              <a:solidFill>
                <a:schemeClr val="dk1"/>
              </a:solidFill>
              <a:latin typeface="Plus Jakarta Sans SemiBold"/>
              <a:ea typeface="Plus Jakarta Sans SemiBold"/>
              <a:cs typeface="Plus Jakarta Sans SemiBold"/>
              <a:sym typeface="Plus Jakarta Sans SemiBold"/>
            </a:endParaRPr>
          </a:p>
        </p:txBody>
      </p:sp>
      <p:sp>
        <p:nvSpPr>
          <p:cNvPr id="231" name="Google Shape;231;g3fb27239cfa_0_67"/>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Jabaran Pernyataan Masalah</a:t>
            </a:r>
            <a:endParaRPr b="1" sz="4000">
              <a:solidFill>
                <a:srgbClr val="F08B33"/>
              </a:solidFill>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35" name="Shape 235"/>
        <p:cNvGrpSpPr/>
        <p:nvPr/>
      </p:nvGrpSpPr>
      <p:grpSpPr>
        <a:xfrm>
          <a:off x="0" y="0"/>
          <a:ext cx="0" cy="0"/>
          <a:chOff x="0" y="0"/>
          <a:chExt cx="0" cy="0"/>
        </a:xfrm>
      </p:grpSpPr>
      <p:pic>
        <p:nvPicPr>
          <p:cNvPr id="236" name="Google Shape;236;g3fb27239cfa_0_7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37" name="Google Shape;237;g3fb27239cfa_0_76"/>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Metrik Kesuksesan Project</a:t>
            </a:r>
            <a:endParaRPr b="1" sz="4000">
              <a:solidFill>
                <a:srgbClr val="F08B33"/>
              </a:solidFill>
              <a:latin typeface="Plus Jakarta Sans"/>
              <a:ea typeface="Plus Jakarta Sans"/>
              <a:cs typeface="Plus Jakarta Sans"/>
              <a:sym typeface="Plus Jakarta Sans"/>
            </a:endParaRPr>
          </a:p>
        </p:txBody>
      </p:sp>
      <p:grpSp>
        <p:nvGrpSpPr>
          <p:cNvPr id="238" name="Google Shape;238;g3fb27239cfa_0_76"/>
          <p:cNvGrpSpPr/>
          <p:nvPr/>
        </p:nvGrpSpPr>
        <p:grpSpPr>
          <a:xfrm>
            <a:off x="1046138" y="1727575"/>
            <a:ext cx="7053300" cy="2980550"/>
            <a:chOff x="540225" y="1616600"/>
            <a:chExt cx="7053300" cy="2980550"/>
          </a:xfrm>
        </p:grpSpPr>
        <p:sp>
          <p:nvSpPr>
            <p:cNvPr id="239" name="Google Shape;239;g3fb27239cfa_0_76"/>
            <p:cNvSpPr/>
            <p:nvPr/>
          </p:nvSpPr>
          <p:spPr>
            <a:xfrm>
              <a:off x="544275" y="1616600"/>
              <a:ext cx="1791600" cy="1450800"/>
            </a:xfrm>
            <a:prstGeom prst="rect">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solidFill>
                    <a:schemeClr val="lt1"/>
                  </a:solidFill>
                  <a:latin typeface="Plus Jakarta Sans SemiBold"/>
                  <a:ea typeface="Plus Jakarta Sans SemiBold"/>
                  <a:cs typeface="Plus Jakarta Sans SemiBold"/>
                  <a:sym typeface="Plus Jakarta Sans SemiBold"/>
                </a:rPr>
                <a:t>Metrik Teknis</a:t>
              </a:r>
              <a:endParaRPr i="0" sz="1400" u="none" cap="none" strike="noStrike">
                <a:solidFill>
                  <a:schemeClr val="lt1"/>
                </a:solidFill>
                <a:latin typeface="Plus Jakarta Sans SemiBold"/>
                <a:ea typeface="Plus Jakarta Sans SemiBold"/>
                <a:cs typeface="Plus Jakarta Sans SemiBold"/>
                <a:sym typeface="Plus Jakarta Sans SemiBold"/>
              </a:endParaRPr>
            </a:p>
          </p:txBody>
        </p:sp>
        <p:sp>
          <p:nvSpPr>
            <p:cNvPr id="240" name="Google Shape;240;g3fb27239cfa_0_76"/>
            <p:cNvSpPr/>
            <p:nvPr/>
          </p:nvSpPr>
          <p:spPr>
            <a:xfrm>
              <a:off x="2331825" y="1616600"/>
              <a:ext cx="5257500" cy="1450800"/>
            </a:xfrm>
            <a:prstGeom prst="rect">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1" name="Google Shape;241;g3fb27239cfa_0_76"/>
            <p:cNvSpPr txBox="1"/>
            <p:nvPr/>
          </p:nvSpPr>
          <p:spPr>
            <a:xfrm>
              <a:off x="2501925" y="2034188"/>
              <a:ext cx="4917300" cy="615600"/>
            </a:xfrm>
            <a:prstGeom prst="rect">
              <a:avLst/>
            </a:prstGeom>
            <a:noFill/>
            <a:ln>
              <a:noFill/>
            </a:ln>
          </p:spPr>
          <p:txBody>
            <a:bodyPr anchorCtr="0" anchor="t" bIns="91425" lIns="91425" spcFirstLastPara="1" rIns="91425" wrap="square" tIns="91425">
              <a:spAutoFit/>
            </a:bodyPr>
            <a:lstStyle/>
            <a:p>
              <a:pPr indent="-180340" lvl="0" marL="13716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Pipeline berjalan end-to-end tanpa error di Airflow</a:t>
              </a:r>
              <a:endParaRPr>
                <a:solidFill>
                  <a:schemeClr val="dk1"/>
                </a:solidFill>
                <a:latin typeface="Plus Jakarta Sans SemiBold"/>
                <a:ea typeface="Plus Jakarta Sans SemiBold"/>
                <a:cs typeface="Plus Jakarta Sans SemiBold"/>
                <a:sym typeface="Plus Jakarta Sans SemiBold"/>
              </a:endParaRPr>
            </a:p>
            <a:p>
              <a:pPr indent="-180340" lvl="0" marL="13716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Waktu eksekusi DAG dalam batas wajar  </a:t>
              </a:r>
              <a:endParaRPr>
                <a:solidFill>
                  <a:schemeClr val="dk1"/>
                </a:solidFill>
                <a:latin typeface="Plus Jakarta Sans SemiBold"/>
                <a:ea typeface="Plus Jakarta Sans SemiBold"/>
                <a:cs typeface="Plus Jakarta Sans SemiBold"/>
                <a:sym typeface="Plus Jakarta Sans SemiBold"/>
              </a:endParaRPr>
            </a:p>
          </p:txBody>
        </p:sp>
        <p:sp>
          <p:nvSpPr>
            <p:cNvPr id="242" name="Google Shape;242;g3fb27239cfa_0_76"/>
            <p:cNvSpPr/>
            <p:nvPr/>
          </p:nvSpPr>
          <p:spPr>
            <a:xfrm>
              <a:off x="544275" y="3146350"/>
              <a:ext cx="1791600" cy="1450800"/>
            </a:xfrm>
            <a:prstGeom prst="rect">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solidFill>
                    <a:schemeClr val="lt1"/>
                  </a:solidFill>
                  <a:latin typeface="Plus Jakarta Sans SemiBold"/>
                  <a:ea typeface="Plus Jakarta Sans SemiBold"/>
                  <a:cs typeface="Plus Jakarta Sans SemiBold"/>
                  <a:sym typeface="Plus Jakarta Sans SemiBold"/>
                </a:rPr>
                <a:t>Metrik Bisnis</a:t>
              </a:r>
              <a:endParaRPr i="0" sz="1400" u="none" cap="none" strike="noStrike">
                <a:solidFill>
                  <a:schemeClr val="lt1"/>
                </a:solidFill>
                <a:latin typeface="Plus Jakarta Sans SemiBold"/>
                <a:ea typeface="Plus Jakarta Sans SemiBold"/>
                <a:cs typeface="Plus Jakarta Sans SemiBold"/>
                <a:sym typeface="Plus Jakarta Sans SemiBold"/>
              </a:endParaRPr>
            </a:p>
          </p:txBody>
        </p:sp>
        <p:sp>
          <p:nvSpPr>
            <p:cNvPr id="243" name="Google Shape;243;g3fb27239cfa_0_76"/>
            <p:cNvSpPr/>
            <p:nvPr/>
          </p:nvSpPr>
          <p:spPr>
            <a:xfrm>
              <a:off x="2335875" y="3146350"/>
              <a:ext cx="5257500" cy="1450800"/>
            </a:xfrm>
            <a:prstGeom prst="rect">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4" name="Google Shape;244;g3fb27239cfa_0_76"/>
            <p:cNvSpPr txBox="1"/>
            <p:nvPr/>
          </p:nvSpPr>
          <p:spPr>
            <a:xfrm>
              <a:off x="2505975" y="3348400"/>
              <a:ext cx="4917300" cy="1046700"/>
            </a:xfrm>
            <a:prstGeom prst="rect">
              <a:avLst/>
            </a:prstGeom>
            <a:noFill/>
            <a:ln>
              <a:noFill/>
            </a:ln>
          </p:spPr>
          <p:txBody>
            <a:bodyPr anchorCtr="0" anchor="t" bIns="91425" lIns="91425" spcFirstLastPara="1" rIns="91425" wrap="square" tIns="91425">
              <a:spAutoFit/>
            </a:bodyPr>
            <a:lstStyle/>
            <a:p>
              <a:pPr indent="-180340" lvl="0" marL="13716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Dashboard Metabase menjawab pertanyaan spesifik dari problem statement </a:t>
              </a:r>
              <a:endParaRPr>
                <a:solidFill>
                  <a:schemeClr val="dk1"/>
                </a:solidFill>
                <a:latin typeface="Plus Jakarta Sans SemiBold"/>
                <a:ea typeface="Plus Jakarta Sans SemiBold"/>
                <a:cs typeface="Plus Jakarta Sans SemiBold"/>
                <a:sym typeface="Plus Jakarta Sans SemiBold"/>
              </a:endParaRPr>
            </a:p>
            <a:p>
              <a:pPr indent="-180340" lvl="0" marL="13716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Insight yang dihasilkan bisa diterjemahkan jadi rekomendasi konkret </a:t>
              </a:r>
              <a:r>
                <a:rPr lang="en-US">
                  <a:solidFill>
                    <a:schemeClr val="dk1"/>
                  </a:solidFill>
                  <a:latin typeface="Plus Jakarta Sans SemiBold"/>
                  <a:ea typeface="Plus Jakarta Sans SemiBold"/>
                  <a:cs typeface="Plus Jakarta Sans SemiBold"/>
                  <a:sym typeface="Plus Jakarta Sans SemiBold"/>
                </a:rPr>
                <a:t> </a:t>
              </a:r>
              <a:endParaRPr>
                <a:solidFill>
                  <a:schemeClr val="dk1"/>
                </a:solidFill>
                <a:latin typeface="Plus Jakarta Sans SemiBold"/>
                <a:ea typeface="Plus Jakarta Sans SemiBold"/>
                <a:cs typeface="Plus Jakarta Sans SemiBold"/>
                <a:sym typeface="Plus Jakarta Sans SemiBold"/>
              </a:endParaRPr>
            </a:p>
          </p:txBody>
        </p:sp>
        <p:sp>
          <p:nvSpPr>
            <p:cNvPr id="245" name="Google Shape;245;g3fb27239cfa_0_76"/>
            <p:cNvSpPr/>
            <p:nvPr/>
          </p:nvSpPr>
          <p:spPr>
            <a:xfrm>
              <a:off x="540225" y="3067400"/>
              <a:ext cx="7053300" cy="7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249" name="Shape 249"/>
        <p:cNvGrpSpPr/>
        <p:nvPr/>
      </p:nvGrpSpPr>
      <p:grpSpPr>
        <a:xfrm>
          <a:off x="0" y="0"/>
          <a:ext cx="0" cy="0"/>
          <a:chOff x="0" y="0"/>
          <a:chExt cx="0" cy="0"/>
        </a:xfrm>
      </p:grpSpPr>
      <p:sp>
        <p:nvSpPr>
          <p:cNvPr id="250" name="Google Shape;250;g27348ee98e6_0_37"/>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1" name="Google Shape;251;g27348ee98e6_0_37"/>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2" name="Google Shape;252;g27348ee98e6_0_37"/>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3" name="Google Shape;253;g27348ee98e6_0_37"/>
          <p:cNvSpPr txBox="1"/>
          <p:nvPr>
            <p:ph type="ctrTitle"/>
          </p:nvPr>
        </p:nvSpPr>
        <p:spPr>
          <a:xfrm>
            <a:off x="4473325" y="2352200"/>
            <a:ext cx="4337400" cy="1357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SzPct val="37500"/>
              <a:buNone/>
            </a:pPr>
            <a:r>
              <a:rPr b="1" lang="en-US" sz="4800">
                <a:solidFill>
                  <a:schemeClr val="lt1"/>
                </a:solidFill>
                <a:latin typeface="Plus Jakarta Sans"/>
                <a:ea typeface="Plus Jakarta Sans"/>
                <a:cs typeface="Plus Jakarta Sans"/>
                <a:sym typeface="Plus Jakarta Sans"/>
              </a:rPr>
              <a:t>Data Understanding</a:t>
            </a:r>
            <a:endParaRPr b="1" sz="4800">
              <a:solidFill>
                <a:schemeClr val="lt1"/>
              </a:solidFill>
              <a:latin typeface="Plus Jakarta Sans"/>
              <a:ea typeface="Plus Jakarta Sans"/>
              <a:cs typeface="Plus Jakarta Sans"/>
              <a:sym typeface="Plus Jakarta Sans"/>
            </a:endParaRPr>
          </a:p>
        </p:txBody>
      </p:sp>
      <p:pic>
        <p:nvPicPr>
          <p:cNvPr id="254" name="Google Shape;254;g27348ee98e6_0_37"/>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8" name="Shape 258"/>
        <p:cNvGrpSpPr/>
        <p:nvPr/>
      </p:nvGrpSpPr>
      <p:grpSpPr>
        <a:xfrm>
          <a:off x="0" y="0"/>
          <a:ext cx="0" cy="0"/>
          <a:chOff x="0" y="0"/>
          <a:chExt cx="0" cy="0"/>
        </a:xfrm>
      </p:grpSpPr>
      <p:pic>
        <p:nvPicPr>
          <p:cNvPr id="259" name="Google Shape;259;g3fb27239cfa_0_15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60" name="Google Shape;260;g3fb27239cfa_0_153"/>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Sumber Data</a:t>
            </a:r>
            <a:endParaRPr b="1" sz="4000">
              <a:solidFill>
                <a:srgbClr val="F08B33"/>
              </a:solidFill>
              <a:latin typeface="Plus Jakarta Sans"/>
              <a:ea typeface="Plus Jakarta Sans"/>
              <a:cs typeface="Plus Jakarta Sans"/>
              <a:sym typeface="Plus Jakarta Sans"/>
            </a:endParaRPr>
          </a:p>
        </p:txBody>
      </p:sp>
      <p:pic>
        <p:nvPicPr>
          <p:cNvPr id="261" name="Google Shape;261;g3fb27239cfa_0_153"/>
          <p:cNvPicPr preferRelativeResize="0"/>
          <p:nvPr/>
        </p:nvPicPr>
        <p:blipFill>
          <a:blip r:embed="rId4">
            <a:alphaModFix/>
          </a:blip>
          <a:stretch>
            <a:fillRect/>
          </a:stretch>
        </p:blipFill>
        <p:spPr>
          <a:xfrm>
            <a:off x="3693123" y="1793826"/>
            <a:ext cx="5196225" cy="2445125"/>
          </a:xfrm>
          <a:prstGeom prst="rect">
            <a:avLst/>
          </a:prstGeom>
          <a:noFill/>
          <a:ln>
            <a:noFill/>
          </a:ln>
        </p:spPr>
      </p:pic>
      <p:sp>
        <p:nvSpPr>
          <p:cNvPr id="262" name="Google Shape;262;g3fb27239cfa_0_153"/>
          <p:cNvSpPr txBox="1"/>
          <p:nvPr/>
        </p:nvSpPr>
        <p:spPr>
          <a:xfrm>
            <a:off x="456425" y="1514325"/>
            <a:ext cx="3345300" cy="14316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300"/>
              </a:spcBef>
              <a:spcAft>
                <a:spcPts val="0"/>
              </a:spcAft>
              <a:buNone/>
            </a:pPr>
            <a:r>
              <a:rPr lang="en-US" sz="1200">
                <a:solidFill>
                  <a:schemeClr val="dk1"/>
                </a:solidFill>
                <a:latin typeface="Plus Jakarta Sans SemiBold"/>
                <a:ea typeface="Plus Jakarta Sans SemiBold"/>
                <a:cs typeface="Plus Jakarta Sans SemiBold"/>
                <a:sym typeface="Plus Jakarta Sans SemiBold"/>
              </a:rPr>
              <a:t>Data ini berasal dari Olist, platform e-commerce besar di Brasil, yang diunduh secara publik melalui Kaggle. Dataset ini mencakup kurang lebih 100 ribu riwayat transaksi dari tahun 2016 hingga 2018.</a:t>
            </a:r>
            <a:endParaRPr sz="1100">
              <a:solidFill>
                <a:schemeClr val="dk1"/>
              </a:solidFill>
              <a:latin typeface="Plus Jakarta Sans SemiBold"/>
              <a:ea typeface="Plus Jakarta Sans SemiBold"/>
              <a:cs typeface="Plus Jakarta Sans SemiBold"/>
              <a:sym typeface="Plus Jakarta Sans SemiBold"/>
            </a:endParaRPr>
          </a:p>
        </p:txBody>
      </p:sp>
      <p:sp>
        <p:nvSpPr>
          <p:cNvPr id="263" name="Google Shape;263;g3fb27239cfa_0_153"/>
          <p:cNvSpPr txBox="1"/>
          <p:nvPr/>
        </p:nvSpPr>
        <p:spPr>
          <a:xfrm>
            <a:off x="456425" y="3047825"/>
            <a:ext cx="3236700" cy="16440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300"/>
              </a:spcBef>
              <a:spcAft>
                <a:spcPts val="0"/>
              </a:spcAft>
              <a:buNone/>
            </a:pPr>
            <a:r>
              <a:rPr lang="en-US" sz="1200">
                <a:solidFill>
                  <a:schemeClr val="dk1"/>
                </a:solidFill>
              </a:rPr>
              <a:t>Data ini diambil dari </a:t>
            </a:r>
            <a:r>
              <a:rPr b="1" lang="en-US" sz="1200">
                <a:solidFill>
                  <a:schemeClr val="dk1"/>
                </a:solidFill>
              </a:rPr>
              <a:t>sistem operasional harian Olist</a:t>
            </a:r>
            <a:r>
              <a:rPr lang="en-US" sz="1200">
                <a:solidFill>
                  <a:schemeClr val="dk1"/>
                </a:solidFill>
              </a:rPr>
              <a:t>. Isinya mencerminkan </a:t>
            </a:r>
            <a:r>
              <a:rPr b="1" lang="en-US" sz="1200">
                <a:solidFill>
                  <a:schemeClr val="dk1"/>
                </a:solidFill>
              </a:rPr>
              <a:t>realitas bisnis retail online</a:t>
            </a:r>
            <a:r>
              <a:rPr lang="en-US" sz="1200">
                <a:solidFill>
                  <a:schemeClr val="dk1"/>
                </a:solidFill>
              </a:rPr>
              <a:t>, mulai dari proses pemesanan, profil pembeli dan penjual, rute pengiriman paket, hingga ulasan konsumen.</a:t>
            </a:r>
            <a:endParaRPr sz="1200">
              <a:solidFill>
                <a:schemeClr val="dk1"/>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67" name="Shape 267"/>
        <p:cNvGrpSpPr/>
        <p:nvPr/>
      </p:nvGrpSpPr>
      <p:grpSpPr>
        <a:xfrm>
          <a:off x="0" y="0"/>
          <a:ext cx="0" cy="0"/>
          <a:chOff x="0" y="0"/>
          <a:chExt cx="0" cy="0"/>
        </a:xfrm>
      </p:grpSpPr>
      <p:pic>
        <p:nvPicPr>
          <p:cNvPr id="268" name="Google Shape;268;g3fb27239cfa_0_23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69" name="Google Shape;269;g3fb27239cfa_0_234"/>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Schema Data Olist</a:t>
            </a:r>
            <a:endParaRPr b="1" sz="4000">
              <a:solidFill>
                <a:srgbClr val="F08B33"/>
              </a:solidFill>
              <a:latin typeface="Plus Jakarta Sans"/>
              <a:ea typeface="Plus Jakarta Sans"/>
              <a:cs typeface="Plus Jakarta Sans"/>
              <a:sym typeface="Plus Jakarta Sans"/>
            </a:endParaRPr>
          </a:p>
        </p:txBody>
      </p:sp>
      <p:pic>
        <p:nvPicPr>
          <p:cNvPr id="270" name="Google Shape;270;g3fb27239cfa_0_234"/>
          <p:cNvPicPr preferRelativeResize="0"/>
          <p:nvPr/>
        </p:nvPicPr>
        <p:blipFill>
          <a:blip r:embed="rId4">
            <a:alphaModFix/>
          </a:blip>
          <a:stretch>
            <a:fillRect/>
          </a:stretch>
        </p:blipFill>
        <p:spPr>
          <a:xfrm>
            <a:off x="1685250" y="1451650"/>
            <a:ext cx="5775084" cy="34740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74" name="Shape 274"/>
        <p:cNvGrpSpPr/>
        <p:nvPr/>
      </p:nvGrpSpPr>
      <p:grpSpPr>
        <a:xfrm>
          <a:off x="0" y="0"/>
          <a:ext cx="0" cy="0"/>
          <a:chOff x="0" y="0"/>
          <a:chExt cx="0" cy="0"/>
        </a:xfrm>
      </p:grpSpPr>
      <p:pic>
        <p:nvPicPr>
          <p:cNvPr id="275" name="Google Shape;275;g3fb27239cfa_0_24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76" name="Google Shape;276;g3fb27239cfa_0_243"/>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Kualitas Data</a:t>
            </a:r>
            <a:endParaRPr b="1" sz="4000">
              <a:solidFill>
                <a:srgbClr val="F08B33"/>
              </a:solidFill>
              <a:latin typeface="Plus Jakarta Sans"/>
              <a:ea typeface="Plus Jakarta Sans"/>
              <a:cs typeface="Plus Jakarta Sans"/>
              <a:sym typeface="Plus Jakarta Sans"/>
            </a:endParaRPr>
          </a:p>
        </p:txBody>
      </p:sp>
      <p:sp>
        <p:nvSpPr>
          <p:cNvPr id="277" name="Google Shape;277;g3fb27239cfa_0_243"/>
          <p:cNvSpPr txBox="1"/>
          <p:nvPr/>
        </p:nvSpPr>
        <p:spPr>
          <a:xfrm>
            <a:off x="463400" y="1592625"/>
            <a:ext cx="8258100" cy="312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Nilai Null : </a:t>
            </a:r>
            <a:endParaRPr>
              <a:solidFill>
                <a:schemeClr val="dk1"/>
              </a:solidFill>
              <a:latin typeface="Plus Jakarta Sans SemiBold"/>
              <a:ea typeface="Plus Jakarta Sans SemiBold"/>
              <a:cs typeface="Plus Jakarta Sans SemiBold"/>
              <a:sym typeface="Plus Jakarta Sans SemiBold"/>
            </a:endParaRPr>
          </a:p>
          <a:p>
            <a:pPr indent="-317500" lvl="0" marL="45720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Terdapat data kosong (null) pada beberapa kolom yang dapat </a:t>
            </a:r>
            <a:r>
              <a:rPr lang="en-US">
                <a:solidFill>
                  <a:schemeClr val="dk1"/>
                </a:solidFill>
                <a:latin typeface="Plus Jakarta Sans SemiBold"/>
                <a:ea typeface="Plus Jakarta Sans SemiBold"/>
                <a:cs typeface="Plus Jakarta Sans SemiBold"/>
                <a:sym typeface="Plus Jakarta Sans SemiBold"/>
              </a:rPr>
              <a:t>mempengaruhi</a:t>
            </a:r>
            <a:r>
              <a:rPr lang="en-US">
                <a:solidFill>
                  <a:schemeClr val="dk1"/>
                </a:solidFill>
                <a:latin typeface="Plus Jakarta Sans SemiBold"/>
                <a:ea typeface="Plus Jakarta Sans SemiBold"/>
                <a:cs typeface="Plus Jakarta Sans SemiBold"/>
                <a:sym typeface="Plus Jakarta Sans SemiBold"/>
              </a:rPr>
              <a:t> akurasi analisis. Oleh karena itu, data ini akan dikecualikan (exclude) pada tahap </a:t>
            </a:r>
            <a:r>
              <a:rPr i="1" lang="en-US">
                <a:solidFill>
                  <a:schemeClr val="dk1"/>
                </a:solidFill>
                <a:latin typeface="Plus Jakarta Sans SemiBold"/>
                <a:ea typeface="Plus Jakarta Sans SemiBold"/>
                <a:cs typeface="Plus Jakarta Sans SemiBold"/>
                <a:sym typeface="Plus Jakarta Sans SemiBold"/>
              </a:rPr>
              <a:t>staging</a:t>
            </a:r>
            <a:r>
              <a:rPr lang="en-US">
                <a:solidFill>
                  <a:schemeClr val="dk1"/>
                </a:solidFill>
                <a:latin typeface="Plus Jakarta Sans SemiBold"/>
                <a:ea typeface="Plus Jakarta Sans SemiBold"/>
                <a:cs typeface="Plus Jakarta Sans SemiBold"/>
                <a:sym typeface="Plus Jakarta Sans SemiBold"/>
              </a:rPr>
              <a:t> </a:t>
            </a:r>
            <a:endParaRPr>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a:solidFill>
                <a:schemeClr val="dk1"/>
              </a:solidFill>
              <a:latin typeface="Plus Jakarta Sans SemiBold"/>
              <a:ea typeface="Plus Jakarta Sans SemiBold"/>
              <a:cs typeface="Plus Jakarta Sans SemiBold"/>
              <a:sym typeface="Plus Jakarta Sans SemiBold"/>
            </a:endParaRPr>
          </a:p>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Valid Range:</a:t>
            </a:r>
            <a:endParaRPr>
              <a:solidFill>
                <a:schemeClr val="dk1"/>
              </a:solidFill>
              <a:latin typeface="Plus Jakarta Sans SemiBold"/>
              <a:ea typeface="Plus Jakarta Sans SemiBold"/>
              <a:cs typeface="Plus Jakarta Sans SemiBold"/>
              <a:sym typeface="Plus Jakarta Sans SemiBold"/>
            </a:endParaRPr>
          </a:p>
          <a:p>
            <a:pPr indent="-317500" lvl="0" marL="457200" marR="381000" rtl="0" algn="l">
              <a:lnSpc>
                <a:spcPct val="115000"/>
              </a:lnSpc>
              <a:spcBef>
                <a:spcPts val="30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Pencatatan data pada September 2018 tidak penuh, karena terhenti di tanggal 11. Untuk menjaga konsistensi, batas maksimal data yang diambil dibatasi hanya sebelum 1 September 2018.</a:t>
            </a:r>
            <a:endParaRPr>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a:solidFill>
                <a:schemeClr val="dk1"/>
              </a:solidFill>
              <a:latin typeface="Plus Jakarta Sans SemiBold"/>
              <a:ea typeface="Plus Jakarta Sans SemiBold"/>
              <a:cs typeface="Plus Jakarta Sans SemiBold"/>
              <a:sym typeface="Plus Jakarta Sans SemiBold"/>
            </a:endParaRPr>
          </a:p>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Invalid Timeline Logic :</a:t>
            </a:r>
            <a:endParaRPr>
              <a:solidFill>
                <a:schemeClr val="dk1"/>
              </a:solidFill>
              <a:latin typeface="Plus Jakarta Sans SemiBold"/>
              <a:ea typeface="Plus Jakarta Sans SemiBold"/>
              <a:cs typeface="Plus Jakarta Sans SemiBold"/>
              <a:sym typeface="Plus Jakarta Sans SemiBold"/>
            </a:endParaRPr>
          </a:p>
          <a:p>
            <a:pPr indent="-317500" lvl="0" marL="45720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Ditemukan beberapa urutan tanggal pesanan yang tidak logis (misalnya tanggal pengiriman mendahului persetujuan). Data yang melanggar urutan kronologis ini akan disaring dan dikecualikan. </a:t>
            </a:r>
            <a:endParaRPr>
              <a:solidFill>
                <a:schemeClr val="dk1"/>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281" name="Shape 281"/>
        <p:cNvGrpSpPr/>
        <p:nvPr/>
      </p:nvGrpSpPr>
      <p:grpSpPr>
        <a:xfrm>
          <a:off x="0" y="0"/>
          <a:ext cx="0" cy="0"/>
          <a:chOff x="0" y="0"/>
          <a:chExt cx="0" cy="0"/>
        </a:xfrm>
      </p:grpSpPr>
      <p:sp>
        <p:nvSpPr>
          <p:cNvPr id="282" name="Google Shape;282;g27348ee98e6_0_22"/>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3" name="Google Shape;283;g27348ee98e6_0_22"/>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4" name="Google Shape;284;g27348ee98e6_0_22"/>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5" name="Google Shape;285;g27348ee98e6_0_22"/>
          <p:cNvSpPr txBox="1"/>
          <p:nvPr>
            <p:ph type="ctrTitle"/>
          </p:nvPr>
        </p:nvSpPr>
        <p:spPr>
          <a:xfrm>
            <a:off x="4473325" y="2352200"/>
            <a:ext cx="4337400" cy="1357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SzPct val="37500"/>
              <a:buNone/>
            </a:pPr>
            <a:r>
              <a:rPr b="1" lang="en-US" sz="4800">
                <a:solidFill>
                  <a:schemeClr val="lt1"/>
                </a:solidFill>
                <a:latin typeface="Plus Jakarta Sans"/>
                <a:ea typeface="Plus Jakarta Sans"/>
                <a:cs typeface="Plus Jakarta Sans"/>
                <a:sym typeface="Plus Jakarta Sans"/>
              </a:rPr>
              <a:t>Data Platform Understanding</a:t>
            </a:r>
            <a:endParaRPr b="1" sz="4800">
              <a:solidFill>
                <a:schemeClr val="lt1"/>
              </a:solidFill>
              <a:latin typeface="Plus Jakarta Sans"/>
              <a:ea typeface="Plus Jakarta Sans"/>
              <a:cs typeface="Plus Jakarta Sans"/>
              <a:sym typeface="Plus Jakarta Sans"/>
            </a:endParaRPr>
          </a:p>
        </p:txBody>
      </p:sp>
      <p:pic>
        <p:nvPicPr>
          <p:cNvPr id="286" name="Google Shape;286;g27348ee98e6_0_22"/>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0" name="Shape 290"/>
        <p:cNvGrpSpPr/>
        <p:nvPr/>
      </p:nvGrpSpPr>
      <p:grpSpPr>
        <a:xfrm>
          <a:off x="0" y="0"/>
          <a:ext cx="0" cy="0"/>
          <a:chOff x="0" y="0"/>
          <a:chExt cx="0" cy="0"/>
        </a:xfrm>
      </p:grpSpPr>
      <p:pic>
        <p:nvPicPr>
          <p:cNvPr id="291" name="Google Shape;291;g3fb27239cfa_0_9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92" name="Google Shape;292;g3fb27239cfa_0_98"/>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Identifikasi Sumber Data</a:t>
            </a:r>
            <a:endParaRPr b="1" sz="4000">
              <a:solidFill>
                <a:srgbClr val="F08B33"/>
              </a:solidFill>
              <a:latin typeface="Plus Jakarta Sans"/>
              <a:ea typeface="Plus Jakarta Sans"/>
              <a:cs typeface="Plus Jakarta Sans"/>
              <a:sym typeface="Plus Jakarta Sans"/>
            </a:endParaRPr>
          </a:p>
        </p:txBody>
      </p:sp>
      <p:graphicFrame>
        <p:nvGraphicFramePr>
          <p:cNvPr id="293" name="Google Shape;293;g3fb27239cfa_0_98"/>
          <p:cNvGraphicFramePr/>
          <p:nvPr/>
        </p:nvGraphicFramePr>
        <p:xfrm>
          <a:off x="781413" y="1782813"/>
          <a:ext cx="3000000" cy="3000000"/>
        </p:xfrm>
        <a:graphic>
          <a:graphicData uri="http://schemas.openxmlformats.org/drawingml/2006/table">
            <a:tbl>
              <a:tblPr>
                <a:noFill/>
                <a:tableStyleId>{BB3D9881-8DB4-4D38-A493-048F9DE826AE}</a:tableStyleId>
              </a:tblPr>
              <a:tblGrid>
                <a:gridCol w="2861675"/>
                <a:gridCol w="4721075"/>
              </a:tblGrid>
              <a:tr h="381000">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Nama Dataset</a:t>
                      </a:r>
                      <a:endParaRPr>
                        <a:latin typeface="Plus Jakarta Sans SemiBold"/>
                        <a:ea typeface="Plus Jakarta Sans SemiBold"/>
                        <a:cs typeface="Plus Jakarta Sans SemiBold"/>
                        <a:sym typeface="Plus Jakarta Sans SemiBold"/>
                      </a:endParaRPr>
                    </a:p>
                  </a:txBody>
                  <a:tcPr marT="91425" marB="91425" marR="91425" marL="91425">
                    <a:solidFill>
                      <a:srgbClr val="FFBD58"/>
                    </a:solidFill>
                  </a:tcPr>
                </a:tc>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Deskripsi Singkat</a:t>
                      </a:r>
                      <a:endParaRPr>
                        <a:latin typeface="Plus Jakarta Sans SemiBold"/>
                        <a:ea typeface="Plus Jakarta Sans SemiBold"/>
                        <a:cs typeface="Plus Jakarta Sans SemiBold"/>
                        <a:sym typeface="Plus Jakarta Sans SemiBold"/>
                      </a:endParaRPr>
                    </a:p>
                  </a:txBody>
                  <a:tcPr marT="91425" marB="91425" marR="91425" marL="91425">
                    <a:solidFill>
                      <a:srgbClr val="FFBD58"/>
                    </a:solidFill>
                  </a:tcPr>
                </a:tc>
              </a:tr>
              <a:tr h="381000">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olist_customers_dataset</a:t>
                      </a:r>
                      <a:endParaRPr>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Berisi data terkait customer dan domisilinya</a:t>
                      </a:r>
                      <a:endParaRPr>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olist_order_items_dataset</a:t>
                      </a:r>
                      <a:endParaRPr>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Berisi data informasi lengkap terkait item dalam sebuah order salah satunya adalah seller</a:t>
                      </a:r>
                      <a:endParaRPr>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olist_orders_dataset</a:t>
                      </a:r>
                      <a:endParaRPr>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Berisi data terkait riwayat pesanan</a:t>
                      </a:r>
                      <a:endParaRPr>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olist_order_reviews_dataset</a:t>
                      </a:r>
                      <a:endParaRPr>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Berisi data terkait review score yang diberikan kepada sebuah riwayat order</a:t>
                      </a:r>
                      <a:endParaRPr>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olist_sellers_dataset</a:t>
                      </a:r>
                      <a:endParaRPr>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Plus Jakarta Sans SemiBold"/>
                          <a:ea typeface="Plus Jakarta Sans SemiBold"/>
                          <a:cs typeface="Plus Jakarta Sans SemiBold"/>
                          <a:sym typeface="Plus Jakarta Sans SemiBold"/>
                        </a:rPr>
                        <a:t>Berisi data terkait seller dan domisilinya</a:t>
                      </a:r>
                      <a:endParaRPr>
                        <a:latin typeface="Plus Jakarta Sans SemiBold"/>
                        <a:ea typeface="Plus Jakarta Sans SemiBold"/>
                        <a:cs typeface="Plus Jakarta Sans SemiBold"/>
                        <a:sym typeface="Plus Jakarta Sans SemiBold"/>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7" name="Shape 297"/>
        <p:cNvGrpSpPr/>
        <p:nvPr/>
      </p:nvGrpSpPr>
      <p:grpSpPr>
        <a:xfrm>
          <a:off x="0" y="0"/>
          <a:ext cx="0" cy="0"/>
          <a:chOff x="0" y="0"/>
          <a:chExt cx="0" cy="0"/>
        </a:xfrm>
      </p:grpSpPr>
      <p:pic>
        <p:nvPicPr>
          <p:cNvPr id="298" name="Google Shape;298;g3fb27239cfa_0_11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99" name="Google Shape;299;g3fb27239cfa_0_117"/>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Arsitektur Pipeline</a:t>
            </a:r>
            <a:endParaRPr b="1" sz="4000">
              <a:solidFill>
                <a:srgbClr val="F08B33"/>
              </a:solidFill>
              <a:latin typeface="Plus Jakarta Sans"/>
              <a:ea typeface="Plus Jakarta Sans"/>
              <a:cs typeface="Plus Jakarta Sans"/>
              <a:sym typeface="Plus Jakarta Sans"/>
            </a:endParaRPr>
          </a:p>
        </p:txBody>
      </p:sp>
      <p:grpSp>
        <p:nvGrpSpPr>
          <p:cNvPr id="300" name="Google Shape;300;g3fb27239cfa_0_117"/>
          <p:cNvGrpSpPr/>
          <p:nvPr/>
        </p:nvGrpSpPr>
        <p:grpSpPr>
          <a:xfrm>
            <a:off x="1381463" y="1366200"/>
            <a:ext cx="6382627" cy="3502325"/>
            <a:chOff x="1382288" y="1366200"/>
            <a:chExt cx="6382627" cy="3502325"/>
          </a:xfrm>
        </p:grpSpPr>
        <p:grpSp>
          <p:nvGrpSpPr>
            <p:cNvPr id="301" name="Google Shape;301;g3fb27239cfa_0_117"/>
            <p:cNvGrpSpPr/>
            <p:nvPr/>
          </p:nvGrpSpPr>
          <p:grpSpPr>
            <a:xfrm>
              <a:off x="1382288" y="1366200"/>
              <a:ext cx="6382627" cy="3502325"/>
              <a:chOff x="1381475" y="1366200"/>
              <a:chExt cx="6382627" cy="3502325"/>
            </a:xfrm>
          </p:grpSpPr>
          <p:sp>
            <p:nvSpPr>
              <p:cNvPr id="302" name="Google Shape;302;g3fb27239cfa_0_117"/>
              <p:cNvSpPr/>
              <p:nvPr/>
            </p:nvSpPr>
            <p:spPr>
              <a:xfrm>
                <a:off x="2610950" y="3133875"/>
                <a:ext cx="633300" cy="564900"/>
              </a:xfrm>
              <a:prstGeom prst="rect">
                <a:avLst/>
              </a:prstGeom>
              <a:solidFill>
                <a:srgbClr val="F7F7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03" name="Google Shape;303;g3fb27239cfa_0_117" title="ChatGPT Image Sep 11, 2026, 02_13_55 PM.png"/>
              <p:cNvPicPr preferRelativeResize="0"/>
              <p:nvPr/>
            </p:nvPicPr>
            <p:blipFill>
              <a:blip r:embed="rId4">
                <a:alphaModFix/>
              </a:blip>
              <a:stretch>
                <a:fillRect/>
              </a:stretch>
            </p:blipFill>
            <p:spPr>
              <a:xfrm>
                <a:off x="1381475" y="1366200"/>
                <a:ext cx="6382627" cy="3502325"/>
              </a:xfrm>
              <a:prstGeom prst="rect">
                <a:avLst/>
              </a:prstGeom>
              <a:noFill/>
              <a:ln>
                <a:noFill/>
              </a:ln>
            </p:spPr>
          </p:pic>
          <p:pic>
            <p:nvPicPr>
              <p:cNvPr id="304" name="Google Shape;304;g3fb27239cfa_0_117"/>
              <p:cNvPicPr preferRelativeResize="0"/>
              <p:nvPr/>
            </p:nvPicPr>
            <p:blipFill>
              <a:blip r:embed="rId5">
                <a:alphaModFix/>
              </a:blip>
              <a:stretch>
                <a:fillRect/>
              </a:stretch>
            </p:blipFill>
            <p:spPr>
              <a:xfrm>
                <a:off x="2416834" y="3088950"/>
                <a:ext cx="691050" cy="588425"/>
              </a:xfrm>
              <a:prstGeom prst="rect">
                <a:avLst/>
              </a:prstGeom>
              <a:noFill/>
              <a:ln>
                <a:noFill/>
              </a:ln>
            </p:spPr>
          </p:pic>
          <p:pic>
            <p:nvPicPr>
              <p:cNvPr id="305" name="Google Shape;305;g3fb27239cfa_0_117"/>
              <p:cNvPicPr preferRelativeResize="0"/>
              <p:nvPr/>
            </p:nvPicPr>
            <p:blipFill>
              <a:blip r:embed="rId6">
                <a:alphaModFix/>
              </a:blip>
              <a:stretch>
                <a:fillRect/>
              </a:stretch>
            </p:blipFill>
            <p:spPr>
              <a:xfrm>
                <a:off x="1587725" y="3470800"/>
                <a:ext cx="524625" cy="266125"/>
              </a:xfrm>
              <a:prstGeom prst="rect">
                <a:avLst/>
              </a:prstGeom>
              <a:noFill/>
              <a:ln>
                <a:noFill/>
              </a:ln>
            </p:spPr>
          </p:pic>
        </p:grpSp>
        <p:sp>
          <p:nvSpPr>
            <p:cNvPr id="306" name="Google Shape;306;g3fb27239cfa_0_117"/>
            <p:cNvSpPr/>
            <p:nvPr/>
          </p:nvSpPr>
          <p:spPr>
            <a:xfrm>
              <a:off x="3337725" y="2253625"/>
              <a:ext cx="570300" cy="123000"/>
            </a:xfrm>
            <a:prstGeom prst="rect">
              <a:avLst/>
            </a:prstGeom>
            <a:solidFill>
              <a:srgbClr val="FCD3D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US" sz="500">
                  <a:latin typeface="Comic Sans MS"/>
                  <a:ea typeface="Comic Sans MS"/>
                  <a:cs typeface="Comic Sans MS"/>
                  <a:sym typeface="Comic Sans MS"/>
                </a:rPr>
                <a:t>3. Raw Data</a:t>
              </a:r>
              <a:endParaRPr b="1" sz="500">
                <a:latin typeface="Comic Sans MS"/>
                <a:ea typeface="Comic Sans MS"/>
                <a:cs typeface="Comic Sans MS"/>
                <a:sym typeface="Comic Sans M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0" name="Shape 310"/>
        <p:cNvGrpSpPr/>
        <p:nvPr/>
      </p:nvGrpSpPr>
      <p:grpSpPr>
        <a:xfrm>
          <a:off x="0" y="0"/>
          <a:ext cx="0" cy="0"/>
          <a:chOff x="0" y="0"/>
          <a:chExt cx="0" cy="0"/>
        </a:xfrm>
      </p:grpSpPr>
      <p:pic>
        <p:nvPicPr>
          <p:cNvPr id="311" name="Google Shape;311;g3fb27239cfa_0_12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12" name="Google Shape;312;g3fb27239cfa_0_128"/>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Tech Stack dan Justifikasi</a:t>
            </a:r>
            <a:endParaRPr b="1" sz="4000">
              <a:solidFill>
                <a:srgbClr val="F08B33"/>
              </a:solidFill>
              <a:latin typeface="Plus Jakarta Sans"/>
              <a:ea typeface="Plus Jakarta Sans"/>
              <a:cs typeface="Plus Jakarta Sans"/>
              <a:sym typeface="Plus Jakarta Sans"/>
            </a:endParaRPr>
          </a:p>
        </p:txBody>
      </p:sp>
      <p:graphicFrame>
        <p:nvGraphicFramePr>
          <p:cNvPr id="313" name="Google Shape;313;g3fb27239cfa_0_128"/>
          <p:cNvGraphicFramePr/>
          <p:nvPr/>
        </p:nvGraphicFramePr>
        <p:xfrm>
          <a:off x="471625" y="1434513"/>
          <a:ext cx="3000000" cy="3000000"/>
        </p:xfrm>
        <a:graphic>
          <a:graphicData uri="http://schemas.openxmlformats.org/drawingml/2006/table">
            <a:tbl>
              <a:tblPr>
                <a:noFill/>
                <a:tableStyleId>{BB3D9881-8DB4-4D38-A493-048F9DE826AE}</a:tableStyleId>
              </a:tblPr>
              <a:tblGrid>
                <a:gridCol w="1247650"/>
                <a:gridCol w="1519100"/>
                <a:gridCol w="5435575"/>
              </a:tblGrid>
              <a:tr h="381000">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Layer</a:t>
                      </a:r>
                      <a:endParaRPr>
                        <a:latin typeface="Plus Jakarta Sans SemiBold"/>
                        <a:ea typeface="Plus Jakarta Sans SemiBold"/>
                        <a:cs typeface="Plus Jakarta Sans SemiBold"/>
                        <a:sym typeface="Plus Jakarta Sans SemiBold"/>
                      </a:endParaRPr>
                    </a:p>
                  </a:txBody>
                  <a:tcPr marT="91425" marB="91425" marR="91425" marL="91425">
                    <a:solidFill>
                      <a:srgbClr val="FFBD58"/>
                    </a:solidFill>
                  </a:tcPr>
                </a:tc>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Tech Stack</a:t>
                      </a:r>
                      <a:endParaRPr>
                        <a:latin typeface="Plus Jakarta Sans SemiBold"/>
                        <a:ea typeface="Plus Jakarta Sans SemiBold"/>
                        <a:cs typeface="Plus Jakarta Sans SemiBold"/>
                        <a:sym typeface="Plus Jakarta Sans SemiBold"/>
                      </a:endParaRPr>
                    </a:p>
                  </a:txBody>
                  <a:tcPr marT="91425" marB="91425" marR="91425" marL="91425">
                    <a:solidFill>
                      <a:srgbClr val="FFBD58"/>
                    </a:solidFill>
                  </a:tcPr>
                </a:tc>
                <a:tc>
                  <a:txBody>
                    <a:bodyPr/>
                    <a:lstStyle/>
                    <a:p>
                      <a:pPr indent="0" lvl="0" marL="0" rtl="0" algn="l">
                        <a:spcBef>
                          <a:spcPts val="0"/>
                        </a:spcBef>
                        <a:spcAft>
                          <a:spcPts val="0"/>
                        </a:spcAft>
                        <a:buNone/>
                      </a:pPr>
                      <a:r>
                        <a:rPr lang="en-US">
                          <a:latin typeface="Plus Jakarta Sans SemiBold"/>
                          <a:ea typeface="Plus Jakarta Sans SemiBold"/>
                          <a:cs typeface="Plus Jakarta Sans SemiBold"/>
                          <a:sym typeface="Plus Jakarta Sans SemiBold"/>
                        </a:rPr>
                        <a:t>Justifikasi</a:t>
                      </a:r>
                      <a:endParaRPr>
                        <a:latin typeface="Plus Jakarta Sans SemiBold"/>
                        <a:ea typeface="Plus Jakarta Sans SemiBold"/>
                        <a:cs typeface="Plus Jakarta Sans SemiBold"/>
                        <a:sym typeface="Plus Jakarta Sans SemiBold"/>
                      </a:endParaRPr>
                    </a:p>
                  </a:txBody>
                  <a:tcPr marT="91425" marB="91425" marR="91425" marL="91425">
                    <a:solidFill>
                      <a:srgbClr val="FFBD58"/>
                    </a:solidFill>
                  </a:tcPr>
                </a:tc>
              </a:tr>
              <a:tr h="381000">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Data Source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Kaggle API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Data tersedia dan memenuhi kebutuhan </a:t>
                      </a:r>
                      <a:endParaRPr sz="1200">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Ingestion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Pandas Dataframe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Lebih ringan dan lebih baik performanya relatif dengan ukuran data yang digunakan </a:t>
                      </a:r>
                      <a:endParaRPr sz="1200">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warehouse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postgreSQL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RDBMS yang paling familiar digunakan dan kemampuannya sudah cukup untuk memenuhi kebutuhan </a:t>
                      </a:r>
                      <a:endParaRPr sz="1200">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Data Modelling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solidFill>
                            <a:schemeClr val="dk1"/>
                          </a:solidFill>
                          <a:latin typeface="Plus Jakarta Sans SemiBold"/>
                          <a:ea typeface="Plus Jakarta Sans SemiBold"/>
                          <a:cs typeface="Plus Jakarta Sans SemiBold"/>
                          <a:sym typeface="Plus Jakarta Sans SemiBold"/>
                        </a:rPr>
                        <a:t>DBT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solidFill>
                            <a:schemeClr val="dk1"/>
                          </a:solidFill>
                          <a:latin typeface="Plus Jakarta Sans SemiBold"/>
                          <a:ea typeface="Plus Jakarta Sans SemiBold"/>
                          <a:cs typeface="Plus Jakarta Sans SemiBold"/>
                          <a:sym typeface="Plus Jakarta Sans SemiBold"/>
                        </a:rPr>
                        <a:t>Pipeline dibangun dengan menggunakan orkestrasi airflow, dbt digunakan untuk memudahkan proses modelling secara otomatis dan fleksibel </a:t>
                      </a:r>
                      <a:endParaRPr sz="1200">
                        <a:solidFill>
                          <a:schemeClr val="dk1"/>
                        </a:solidFill>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Orchestration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solidFill>
                            <a:schemeClr val="dk1"/>
                          </a:solidFill>
                          <a:latin typeface="Plus Jakarta Sans SemiBold"/>
                          <a:ea typeface="Plus Jakarta Sans SemiBold"/>
                          <a:cs typeface="Plus Jakarta Sans SemiBold"/>
                          <a:sym typeface="Plus Jakarta Sans SemiBold"/>
                        </a:rPr>
                        <a:t>Apache Airflow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solidFill>
                            <a:schemeClr val="dk1"/>
                          </a:solidFill>
                          <a:latin typeface="Plus Jakarta Sans SemiBold"/>
                          <a:ea typeface="Plus Jakarta Sans SemiBold"/>
                          <a:cs typeface="Plus Jakarta Sans SemiBold"/>
                          <a:sym typeface="Plus Jakarta Sans SemiBold"/>
                        </a:rPr>
                        <a:t>Tools yang paling familiar untuk digunakan dan tidak memakan biaya </a:t>
                      </a:r>
                      <a:endParaRPr sz="1200">
                        <a:solidFill>
                          <a:schemeClr val="dk1"/>
                        </a:solidFill>
                        <a:latin typeface="Plus Jakarta Sans SemiBold"/>
                        <a:ea typeface="Plus Jakarta Sans SemiBold"/>
                        <a:cs typeface="Plus Jakarta Sans SemiBold"/>
                        <a:sym typeface="Plus Jakarta Sans SemiBold"/>
                      </a:endParaRPr>
                    </a:p>
                  </a:txBody>
                  <a:tcPr marT="91425" marB="91425" marR="91425" marL="91425"/>
                </a:tc>
              </a:tr>
              <a:tr h="381000">
                <a:tc>
                  <a:txBody>
                    <a:bodyPr/>
                    <a:lstStyle/>
                    <a:p>
                      <a:pPr indent="0" lvl="0" marL="0" rtl="0" algn="l">
                        <a:spcBef>
                          <a:spcPts val="0"/>
                        </a:spcBef>
                        <a:spcAft>
                          <a:spcPts val="0"/>
                        </a:spcAft>
                        <a:buNone/>
                      </a:pPr>
                      <a:r>
                        <a:rPr lang="en-US" sz="1200">
                          <a:latin typeface="Plus Jakarta Sans SemiBold"/>
                          <a:ea typeface="Plus Jakarta Sans SemiBold"/>
                          <a:cs typeface="Plus Jakarta Sans SemiBold"/>
                          <a:sym typeface="Plus Jakarta Sans SemiBold"/>
                        </a:rPr>
                        <a:t>Visualization </a:t>
                      </a:r>
                      <a:endParaRPr sz="1200">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solidFill>
                            <a:schemeClr val="dk1"/>
                          </a:solidFill>
                          <a:latin typeface="Plus Jakarta Sans SemiBold"/>
                          <a:ea typeface="Plus Jakarta Sans SemiBold"/>
                          <a:cs typeface="Plus Jakarta Sans SemiBold"/>
                          <a:sym typeface="Plus Jakarta Sans SemiBold"/>
                        </a:rPr>
                        <a:t>Metabase </a:t>
                      </a:r>
                      <a:endParaRPr sz="1200">
                        <a:solidFill>
                          <a:schemeClr val="dk1"/>
                        </a:solidFill>
                        <a:latin typeface="Plus Jakarta Sans SemiBold"/>
                        <a:ea typeface="Plus Jakarta Sans SemiBold"/>
                        <a:cs typeface="Plus Jakarta Sans SemiBold"/>
                        <a:sym typeface="Plus Jakarta Sans SemiBold"/>
                      </a:endParaRPr>
                    </a:p>
                  </a:txBody>
                  <a:tcPr marT="91425" marB="91425" marR="91425" marL="91425"/>
                </a:tc>
                <a:tc>
                  <a:txBody>
                    <a:bodyPr/>
                    <a:lstStyle/>
                    <a:p>
                      <a:pPr indent="0" lvl="0" marL="0" rtl="0" algn="l">
                        <a:spcBef>
                          <a:spcPts val="0"/>
                        </a:spcBef>
                        <a:spcAft>
                          <a:spcPts val="0"/>
                        </a:spcAft>
                        <a:buNone/>
                      </a:pPr>
                      <a:r>
                        <a:rPr lang="en-US" sz="1200">
                          <a:solidFill>
                            <a:schemeClr val="dk1"/>
                          </a:solidFill>
                          <a:latin typeface="Plus Jakarta Sans SemiBold"/>
                          <a:ea typeface="Plus Jakarta Sans SemiBold"/>
                          <a:cs typeface="Plus Jakarta Sans SemiBold"/>
                          <a:sym typeface="Plus Jakarta Sans SemiBold"/>
                        </a:rPr>
                        <a:t>UI friendly </a:t>
                      </a:r>
                      <a:endParaRPr sz="1200">
                        <a:solidFill>
                          <a:schemeClr val="dk1"/>
                        </a:solidFill>
                        <a:latin typeface="Plus Jakarta Sans SemiBold"/>
                        <a:ea typeface="Plus Jakarta Sans SemiBold"/>
                        <a:cs typeface="Plus Jakarta Sans SemiBold"/>
                        <a:sym typeface="Plus Jakarta Sans SemiBold"/>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317" name="Shape 317"/>
        <p:cNvGrpSpPr/>
        <p:nvPr/>
      </p:nvGrpSpPr>
      <p:grpSpPr>
        <a:xfrm>
          <a:off x="0" y="0"/>
          <a:ext cx="0" cy="0"/>
          <a:chOff x="0" y="0"/>
          <a:chExt cx="0" cy="0"/>
        </a:xfrm>
      </p:grpSpPr>
      <p:sp>
        <p:nvSpPr>
          <p:cNvPr id="318" name="Google Shape;318;g27348ee98e6_0_52"/>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9" name="Google Shape;319;g27348ee98e6_0_52"/>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0" name="Google Shape;320;g27348ee98e6_0_52"/>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1" name="Google Shape;321;g27348ee98e6_0_52"/>
          <p:cNvSpPr txBox="1"/>
          <p:nvPr>
            <p:ph type="ctrTitle"/>
          </p:nvPr>
        </p:nvSpPr>
        <p:spPr>
          <a:xfrm>
            <a:off x="4473325" y="2352200"/>
            <a:ext cx="4337400" cy="1357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SzPct val="37500"/>
              <a:buNone/>
            </a:pPr>
            <a:r>
              <a:rPr b="1" lang="en-US" sz="4800">
                <a:solidFill>
                  <a:schemeClr val="lt1"/>
                </a:solidFill>
                <a:latin typeface="Plus Jakarta Sans"/>
                <a:ea typeface="Plus Jakarta Sans"/>
                <a:cs typeface="Plus Jakarta Sans"/>
                <a:sym typeface="Plus Jakarta Sans"/>
              </a:rPr>
              <a:t>Transformation &amp; Consideration</a:t>
            </a:r>
            <a:endParaRPr b="1" sz="4800">
              <a:solidFill>
                <a:schemeClr val="lt1"/>
              </a:solidFill>
              <a:latin typeface="Plus Jakarta Sans"/>
              <a:ea typeface="Plus Jakarta Sans"/>
              <a:cs typeface="Plus Jakarta Sans"/>
              <a:sym typeface="Plus Jakarta Sans"/>
            </a:endParaRPr>
          </a:p>
        </p:txBody>
      </p:sp>
      <p:pic>
        <p:nvPicPr>
          <p:cNvPr id="322" name="Google Shape;322;g27348ee98e6_0_52"/>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26" name="Shape 326"/>
        <p:cNvGrpSpPr/>
        <p:nvPr/>
      </p:nvGrpSpPr>
      <p:grpSpPr>
        <a:xfrm>
          <a:off x="0" y="0"/>
          <a:ext cx="0" cy="0"/>
          <a:chOff x="0" y="0"/>
          <a:chExt cx="0" cy="0"/>
        </a:xfrm>
      </p:grpSpPr>
      <p:pic>
        <p:nvPicPr>
          <p:cNvPr id="327" name="Google Shape;327;g3fb27239cfa_0_18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28" name="Google Shape;328;g3fb27239cfa_0_186"/>
          <p:cNvSpPr txBox="1"/>
          <p:nvPr/>
        </p:nvSpPr>
        <p:spPr>
          <a:xfrm>
            <a:off x="622075" y="1671000"/>
            <a:ext cx="7766400" cy="1973400"/>
          </a:xfrm>
          <a:prstGeom prst="rect">
            <a:avLst/>
          </a:prstGeom>
          <a:noFill/>
          <a:ln>
            <a:noFill/>
          </a:ln>
        </p:spPr>
        <p:txBody>
          <a:bodyPr anchorCtr="0" anchor="t" bIns="91450" lIns="91450" spcFirstLastPara="1" rIns="91450" wrap="square" tIns="91450">
            <a:spAutoFit/>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BATCH PROCESSING</a:t>
            </a:r>
            <a:endParaRPr>
              <a:solidFill>
                <a:schemeClr val="dk1"/>
              </a:solidFill>
              <a:latin typeface="Plus Jakarta Sans SemiBold"/>
              <a:ea typeface="Plus Jakarta Sans SemiBold"/>
              <a:cs typeface="Plus Jakarta Sans SemiBold"/>
              <a:sym typeface="Plus Jakarta Sans SemiBold"/>
            </a:endParaRPr>
          </a:p>
          <a:p>
            <a:pPr indent="0" lvl="0" marL="0" rtl="0" algn="l">
              <a:spcBef>
                <a:spcPts val="0"/>
              </a:spcBef>
              <a:spcAft>
                <a:spcPts val="0"/>
              </a:spcAft>
              <a:buNone/>
            </a:pPr>
            <a:r>
              <a:t/>
            </a:r>
            <a:endParaRPr>
              <a:solidFill>
                <a:schemeClr val="dk1"/>
              </a:solidFill>
              <a:latin typeface="Plus Jakarta Sans SemiBold"/>
              <a:ea typeface="Plus Jakarta Sans SemiBold"/>
              <a:cs typeface="Plus Jakarta Sans SemiBold"/>
              <a:sym typeface="Plus Jakarta Sans SemiBold"/>
            </a:endParaRPr>
          </a:p>
          <a:p>
            <a:pPr indent="-317500" lvl="0" marL="45720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sumber data adalah dataset historis (Kaggle CSV, 2016-2018), bukan data yang mengalir real-time dari sistem transaksi aktif — tidak ada kebutuhan bisnis untuk insight per-detik/menit.</a:t>
            </a:r>
            <a:endParaRPr>
              <a:solidFill>
                <a:schemeClr val="dk1"/>
              </a:solidFill>
              <a:latin typeface="Plus Jakarta Sans SemiBold"/>
              <a:ea typeface="Plus Jakarta Sans SemiBold"/>
              <a:cs typeface="Plus Jakarta Sans SemiBold"/>
              <a:sym typeface="Plus Jakarta Sans SemiBold"/>
            </a:endParaRPr>
          </a:p>
          <a:p>
            <a:pPr indent="-317500" lvl="0" marL="457200" rtl="0" algn="l">
              <a:lnSpc>
                <a:spcPct val="115000"/>
              </a:lnSpc>
              <a:spcBef>
                <a:spcPts val="0"/>
              </a:spcBef>
              <a:spcAft>
                <a:spcPts val="0"/>
              </a:spcAft>
              <a:buClr>
                <a:schemeClr val="dk1"/>
              </a:buClr>
              <a:buSzPts val="1400"/>
              <a:buChar char="●"/>
            </a:pPr>
            <a:r>
              <a:rPr lang="en-US">
                <a:solidFill>
                  <a:schemeClr val="dk1"/>
                </a:solidFill>
                <a:latin typeface="Plus Jakarta Sans SemiBold"/>
                <a:ea typeface="Plus Jakarta Sans SemiBold"/>
                <a:cs typeface="Plus Jakarta Sans SemiBold"/>
                <a:sym typeface="Plus Jakarta Sans SemiBold"/>
              </a:rPr>
              <a:t>DAG berjalan sekali dan hanya saat dilakukan trigger (</a:t>
            </a:r>
            <a:r>
              <a:rPr lang="en-US">
                <a:solidFill>
                  <a:srgbClr val="188038"/>
                </a:solidFill>
                <a:latin typeface="Plus Jakarta Sans SemiBold"/>
                <a:ea typeface="Plus Jakarta Sans SemiBold"/>
                <a:cs typeface="Plus Jakarta Sans SemiBold"/>
                <a:sym typeface="Plus Jakarta Sans SemiBold"/>
              </a:rPr>
              <a:t>schedule_interval=None</a:t>
            </a:r>
            <a:r>
              <a:rPr lang="en-US">
                <a:solidFill>
                  <a:schemeClr val="dk1"/>
                </a:solidFill>
                <a:latin typeface="Plus Jakarta Sans SemiBold"/>
                <a:ea typeface="Plus Jakarta Sans SemiBold"/>
                <a:cs typeface="Plus Jakarta Sans SemiBold"/>
                <a:sym typeface="Plus Jakarta Sans SemiBold"/>
              </a:rPr>
              <a:t>), bukan incremental berkala — karena tren waktu tetap bisa dianalisis dari kolom timestamp yang sudah ada di data, tidak bergantung cara load.</a:t>
            </a:r>
            <a:endParaRPr>
              <a:solidFill>
                <a:schemeClr val="dk1"/>
              </a:solidFill>
              <a:latin typeface="Plus Jakarta Sans SemiBold"/>
              <a:ea typeface="Plus Jakarta Sans SemiBold"/>
              <a:cs typeface="Plus Jakarta Sans SemiBold"/>
              <a:sym typeface="Plus Jakarta Sans SemiBold"/>
            </a:endParaRPr>
          </a:p>
        </p:txBody>
      </p:sp>
      <p:sp>
        <p:nvSpPr>
          <p:cNvPr id="329" name="Google Shape;329;g3fb27239cfa_0_186"/>
          <p:cNvSpPr txBox="1"/>
          <p:nvPr/>
        </p:nvSpPr>
        <p:spPr>
          <a:xfrm>
            <a:off x="622075" y="6582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Kebutuhan Latensi</a:t>
            </a:r>
            <a:endParaRPr b="1" sz="4000">
              <a:solidFill>
                <a:srgbClr val="F08B33"/>
              </a:solidFill>
              <a:latin typeface="Plus Jakarta Sans"/>
              <a:ea typeface="Plus Jakarta Sans"/>
              <a:cs typeface="Plus Jakarta Sans"/>
              <a:sym typeface="Plus Jakart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33" name="Shape 333"/>
        <p:cNvGrpSpPr/>
        <p:nvPr/>
      </p:nvGrpSpPr>
      <p:grpSpPr>
        <a:xfrm>
          <a:off x="0" y="0"/>
          <a:ext cx="0" cy="0"/>
          <a:chOff x="0" y="0"/>
          <a:chExt cx="0" cy="0"/>
        </a:xfrm>
      </p:grpSpPr>
      <p:pic>
        <p:nvPicPr>
          <p:cNvPr id="334" name="Google Shape;334;g3fb2bf11783_0_7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35" name="Google Shape;335;g3fb2bf11783_0_73"/>
          <p:cNvSpPr txBox="1"/>
          <p:nvPr/>
        </p:nvSpPr>
        <p:spPr>
          <a:xfrm>
            <a:off x="622075" y="1541550"/>
            <a:ext cx="3873300" cy="3186300"/>
          </a:xfrm>
          <a:prstGeom prst="rect">
            <a:avLst/>
          </a:prstGeom>
          <a:noFill/>
          <a:ln>
            <a:noFill/>
          </a:ln>
        </p:spPr>
        <p:txBody>
          <a:bodyPr anchorCtr="0" anchor="t" bIns="91450" lIns="91450" spcFirstLastPara="1" rIns="91450" wrap="square" tIns="91450">
            <a:spAutoFit/>
          </a:bodyPr>
          <a:lstStyle/>
          <a:p>
            <a:pPr indent="-173990" lvl="0" marL="182880" marR="0" rtl="0" algn="l">
              <a:spcBef>
                <a:spcPts val="0"/>
              </a:spcBef>
              <a:spcAft>
                <a:spcPts val="0"/>
              </a:spcAft>
              <a:buClr>
                <a:schemeClr val="dk1"/>
              </a:buClr>
              <a:buSzPts val="1300"/>
              <a:buFont typeface="Plus Jakarta Sans SemiBold"/>
              <a:buChar char="●"/>
            </a:pPr>
            <a:r>
              <a:rPr lang="en-US" sz="1300">
                <a:solidFill>
                  <a:schemeClr val="dk1"/>
                </a:solidFill>
                <a:latin typeface="Plus Jakarta Sans SemiBold"/>
                <a:ea typeface="Plus Jakarta Sans SemiBold"/>
                <a:cs typeface="Plus Jakarta Sans SemiBold"/>
                <a:sym typeface="Plus Jakarta Sans SemiBold"/>
              </a:rPr>
              <a:t>Cleaning: </a:t>
            </a:r>
            <a:endParaRPr sz="1300">
              <a:solidFill>
                <a:schemeClr val="dk1"/>
              </a:solidFill>
              <a:latin typeface="Plus Jakarta Sans SemiBold"/>
              <a:ea typeface="Plus Jakarta Sans SemiBold"/>
              <a:cs typeface="Plus Jakarta Sans SemiBold"/>
              <a:sym typeface="Plus Jakarta Sans SemiBold"/>
            </a:endParaRPr>
          </a:p>
          <a:p>
            <a:pPr indent="0" lvl="0" marL="182880" marR="0" rtl="0" algn="l">
              <a:spcBef>
                <a:spcPts val="0"/>
              </a:spcBef>
              <a:spcAft>
                <a:spcPts val="0"/>
              </a:spcAft>
              <a:buNone/>
            </a:pPr>
            <a:r>
              <a:rPr lang="en-US" sz="1300">
                <a:solidFill>
                  <a:schemeClr val="dk1"/>
                </a:solidFill>
                <a:latin typeface="Plus Jakarta Sans SemiBold"/>
                <a:ea typeface="Plus Jakarta Sans SemiBold"/>
                <a:cs typeface="Plus Jakarta Sans SemiBold"/>
                <a:sym typeface="Plus Jakarta Sans SemiBold"/>
              </a:rPr>
              <a:t>filter </a:t>
            </a:r>
            <a:r>
              <a:rPr lang="en-US" sz="1300">
                <a:solidFill>
                  <a:srgbClr val="188038"/>
                </a:solidFill>
                <a:latin typeface="Plus Jakarta Sans SemiBold"/>
                <a:ea typeface="Plus Jakarta Sans SemiBold"/>
                <a:cs typeface="Plus Jakarta Sans SemiBold"/>
                <a:sym typeface="Plus Jakarta Sans SemiBold"/>
              </a:rPr>
              <a:t>order_status = 'delivered'</a:t>
            </a:r>
            <a:r>
              <a:rPr lang="en-US" sz="1300">
                <a:solidFill>
                  <a:schemeClr val="dk1"/>
                </a:solidFill>
                <a:latin typeface="Plus Jakarta Sans SemiBold"/>
                <a:ea typeface="Plus Jakarta Sans SemiBold"/>
                <a:cs typeface="Plus Jakarta Sans SemiBold"/>
                <a:sym typeface="Plus Jakarta Sans SemiBold"/>
              </a:rPr>
              <a:t>, exclude null di kolom kunci, exclude urutan tanggal tidak logis, exclude data setelah cutoff — ini mengubah data mentah yang "kotor" jadi data yang valid untuk dianalisis.</a:t>
            </a:r>
            <a:endParaRPr sz="1300">
              <a:solidFill>
                <a:schemeClr val="dk1"/>
              </a:solidFill>
              <a:latin typeface="Plus Jakarta Sans SemiBold"/>
              <a:ea typeface="Plus Jakarta Sans SemiBold"/>
              <a:cs typeface="Plus Jakarta Sans SemiBold"/>
              <a:sym typeface="Plus Jakarta Sans SemiBold"/>
            </a:endParaRPr>
          </a:p>
          <a:p>
            <a:pPr indent="0" lvl="0" marL="457200" marR="0" rtl="0" algn="l">
              <a:spcBef>
                <a:spcPts val="0"/>
              </a:spcBef>
              <a:spcAft>
                <a:spcPts val="0"/>
              </a:spcAft>
              <a:buNone/>
            </a:pPr>
            <a:r>
              <a:t/>
            </a:r>
            <a:endParaRPr sz="1300">
              <a:solidFill>
                <a:schemeClr val="dk1"/>
              </a:solidFill>
              <a:latin typeface="Plus Jakarta Sans SemiBold"/>
              <a:ea typeface="Plus Jakarta Sans SemiBold"/>
              <a:cs typeface="Plus Jakarta Sans SemiBold"/>
              <a:sym typeface="Plus Jakarta Sans SemiBold"/>
            </a:endParaRPr>
          </a:p>
          <a:p>
            <a:pPr indent="-173990" lvl="0" marL="182880" rtl="0" algn="l">
              <a:spcBef>
                <a:spcPts val="0"/>
              </a:spcBef>
              <a:spcAft>
                <a:spcPts val="0"/>
              </a:spcAft>
              <a:buClr>
                <a:schemeClr val="dk1"/>
              </a:buClr>
              <a:buSzPts val="1300"/>
              <a:buFont typeface="Plus Jakarta Sans SemiBold"/>
              <a:buChar char="●"/>
            </a:pPr>
            <a:r>
              <a:rPr lang="en-US" sz="1300">
                <a:solidFill>
                  <a:schemeClr val="dk1"/>
                </a:solidFill>
                <a:latin typeface="Plus Jakarta Sans SemiBold"/>
                <a:ea typeface="Plus Jakarta Sans SemiBold"/>
                <a:cs typeface="Plus Jakarta Sans SemiBold"/>
                <a:sym typeface="Plus Jakarta Sans SemiBold"/>
              </a:rPr>
              <a:t>Derivation (kolom baru): </a:t>
            </a:r>
            <a:endParaRPr sz="1300">
              <a:solidFill>
                <a:schemeClr val="dk1"/>
              </a:solidFill>
              <a:latin typeface="Plus Jakarta Sans SemiBold"/>
              <a:ea typeface="Plus Jakarta Sans SemiBold"/>
              <a:cs typeface="Plus Jakarta Sans SemiBold"/>
              <a:sym typeface="Plus Jakarta Sans SemiBold"/>
            </a:endParaRPr>
          </a:p>
          <a:p>
            <a:pPr indent="0" lvl="0" marL="182880" rtl="0" algn="l">
              <a:spcBef>
                <a:spcPts val="0"/>
              </a:spcBef>
              <a:spcAft>
                <a:spcPts val="0"/>
              </a:spcAft>
              <a:buNone/>
            </a:pPr>
            <a:r>
              <a:rPr lang="en-US" sz="1300">
                <a:solidFill>
                  <a:schemeClr val="dk1"/>
                </a:solidFill>
                <a:latin typeface="Plus Jakarta Sans SemiBold"/>
                <a:ea typeface="Plus Jakarta Sans SemiBold"/>
                <a:cs typeface="Plus Jakarta Sans SemiBold"/>
                <a:sym typeface="Plus Jakarta Sans SemiBold"/>
              </a:rPr>
              <a:t>is_late dan delay_days tidak ada di data mentah — ini dihitung/diturunkan dari kolom lain.</a:t>
            </a:r>
            <a:endParaRPr sz="1300">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sz="1300">
              <a:solidFill>
                <a:schemeClr val="dk1"/>
              </a:solidFill>
              <a:latin typeface="Plus Jakarta Sans SemiBold"/>
              <a:ea typeface="Plus Jakarta Sans SemiBold"/>
              <a:cs typeface="Plus Jakarta Sans SemiBold"/>
              <a:sym typeface="Plus Jakarta Sans SemiBold"/>
            </a:endParaRPr>
          </a:p>
          <a:p>
            <a:pPr indent="-173990" lvl="0" marL="182880" rtl="0" algn="l">
              <a:spcBef>
                <a:spcPts val="0"/>
              </a:spcBef>
              <a:spcAft>
                <a:spcPts val="0"/>
              </a:spcAft>
              <a:buClr>
                <a:schemeClr val="dk1"/>
              </a:buClr>
              <a:buSzPts val="1300"/>
              <a:buFont typeface="Plus Jakarta Sans SemiBold"/>
              <a:buChar char="●"/>
            </a:pPr>
            <a:r>
              <a:rPr lang="en-US" sz="1300">
                <a:solidFill>
                  <a:schemeClr val="dk1"/>
                </a:solidFill>
                <a:latin typeface="Plus Jakarta Sans SemiBold"/>
                <a:ea typeface="Plus Jakarta Sans SemiBold"/>
                <a:cs typeface="Plus Jakarta Sans SemiBold"/>
                <a:sym typeface="Plus Jakarta Sans SemiBold"/>
              </a:rPr>
              <a:t>Sumber: </a:t>
            </a:r>
            <a:endParaRPr sz="1300">
              <a:solidFill>
                <a:schemeClr val="dk1"/>
              </a:solidFill>
              <a:latin typeface="Plus Jakarta Sans SemiBold"/>
              <a:ea typeface="Plus Jakarta Sans SemiBold"/>
              <a:cs typeface="Plus Jakarta Sans SemiBold"/>
              <a:sym typeface="Plus Jakarta Sans SemiBold"/>
            </a:endParaRPr>
          </a:p>
          <a:p>
            <a:pPr indent="0" lvl="0" marL="182880" rtl="0" algn="l">
              <a:spcBef>
                <a:spcPts val="0"/>
              </a:spcBef>
              <a:spcAft>
                <a:spcPts val="0"/>
              </a:spcAft>
              <a:buNone/>
            </a:pPr>
            <a:r>
              <a:rPr lang="en-US" sz="1300">
                <a:solidFill>
                  <a:schemeClr val="dk1"/>
                </a:solidFill>
                <a:latin typeface="Plus Jakarta Sans SemiBold"/>
                <a:ea typeface="Plus Jakarta Sans SemiBold"/>
                <a:cs typeface="Plus Jakarta Sans SemiBold"/>
                <a:sym typeface="Plus Jakarta Sans SemiBold"/>
              </a:rPr>
              <a:t>{{ source('raw', 'raw_orders') }}  eksplisit mengambil dari raw layer</a:t>
            </a:r>
            <a:endParaRPr sz="1300">
              <a:solidFill>
                <a:schemeClr val="dk1"/>
              </a:solidFill>
              <a:latin typeface="Plus Jakarta Sans SemiBold"/>
              <a:ea typeface="Plus Jakarta Sans SemiBold"/>
              <a:cs typeface="Plus Jakarta Sans SemiBold"/>
              <a:sym typeface="Plus Jakarta Sans SemiBold"/>
            </a:endParaRPr>
          </a:p>
        </p:txBody>
      </p:sp>
      <p:sp>
        <p:nvSpPr>
          <p:cNvPr id="336" name="Google Shape;336;g3fb2bf11783_0_73"/>
          <p:cNvSpPr txBox="1"/>
          <p:nvPr/>
        </p:nvSpPr>
        <p:spPr>
          <a:xfrm>
            <a:off x="622075" y="658200"/>
            <a:ext cx="7775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Transformasi (</a:t>
            </a:r>
            <a:r>
              <a:rPr b="1" lang="en-US" sz="4000">
                <a:solidFill>
                  <a:srgbClr val="F08B33"/>
                </a:solidFill>
                <a:latin typeface="Plus Jakarta Sans"/>
                <a:ea typeface="Plus Jakarta Sans"/>
                <a:cs typeface="Plus Jakarta Sans"/>
                <a:sym typeface="Plus Jakarta Sans"/>
              </a:rPr>
              <a:t>raw-&gt;bronze)</a:t>
            </a:r>
            <a:endParaRPr b="1" sz="4000">
              <a:solidFill>
                <a:srgbClr val="F08B33"/>
              </a:solidFill>
              <a:latin typeface="Plus Jakarta Sans"/>
              <a:ea typeface="Plus Jakarta Sans"/>
              <a:cs typeface="Plus Jakarta Sans"/>
              <a:sym typeface="Plus Jakarta Sans"/>
            </a:endParaRPr>
          </a:p>
        </p:txBody>
      </p:sp>
      <p:pic>
        <p:nvPicPr>
          <p:cNvPr id="337" name="Google Shape;337;g3fb2bf11783_0_73"/>
          <p:cNvPicPr preferRelativeResize="0"/>
          <p:nvPr/>
        </p:nvPicPr>
        <p:blipFill>
          <a:blip r:embed="rId4">
            <a:alphaModFix/>
          </a:blip>
          <a:stretch>
            <a:fillRect/>
          </a:stretch>
        </p:blipFill>
        <p:spPr>
          <a:xfrm>
            <a:off x="4573600" y="1685600"/>
            <a:ext cx="4306025" cy="28519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41" name="Shape 341"/>
        <p:cNvGrpSpPr/>
        <p:nvPr/>
      </p:nvGrpSpPr>
      <p:grpSpPr>
        <a:xfrm>
          <a:off x="0" y="0"/>
          <a:ext cx="0" cy="0"/>
          <a:chOff x="0" y="0"/>
          <a:chExt cx="0" cy="0"/>
        </a:xfrm>
      </p:grpSpPr>
      <p:pic>
        <p:nvPicPr>
          <p:cNvPr id="342" name="Google Shape;342;g3fb2bf11783_0_8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43" name="Google Shape;343;g3fb2bf11783_0_80"/>
          <p:cNvSpPr txBox="1"/>
          <p:nvPr/>
        </p:nvSpPr>
        <p:spPr>
          <a:xfrm>
            <a:off x="622075" y="1541550"/>
            <a:ext cx="3873300" cy="2770800"/>
          </a:xfrm>
          <a:prstGeom prst="rect">
            <a:avLst/>
          </a:prstGeom>
          <a:noFill/>
          <a:ln>
            <a:noFill/>
          </a:ln>
        </p:spPr>
        <p:txBody>
          <a:bodyPr anchorCtr="0" anchor="t" bIns="91450" lIns="91450" spcFirstLastPara="1" rIns="91450" wrap="square" tIns="91450">
            <a:spAutoFit/>
          </a:bodyPr>
          <a:lstStyle/>
          <a:p>
            <a:pPr indent="-180340" lvl="0" marL="182880" marR="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fact_orders:</a:t>
            </a:r>
            <a:endParaRPr>
              <a:solidFill>
                <a:schemeClr val="dk1"/>
              </a:solidFill>
              <a:latin typeface="Plus Jakarta Sans SemiBold"/>
              <a:ea typeface="Plus Jakarta Sans SemiBold"/>
              <a:cs typeface="Plus Jakarta Sans SemiBold"/>
              <a:sym typeface="Plus Jakarta Sans SemiBold"/>
            </a:endParaRPr>
          </a:p>
          <a:p>
            <a:pPr indent="0" lvl="0" marL="182880" marR="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Menggabungkan 3 model berbeda (</a:t>
            </a:r>
            <a:r>
              <a:rPr lang="en-US">
                <a:solidFill>
                  <a:srgbClr val="188038"/>
                </a:solidFill>
                <a:latin typeface="Plus Jakarta Sans SemiBold"/>
                <a:ea typeface="Plus Jakarta Sans SemiBold"/>
                <a:cs typeface="Plus Jakarta Sans SemiBold"/>
                <a:sym typeface="Plus Jakarta Sans SemiBold"/>
              </a:rPr>
              <a:t>stg_orders</a:t>
            </a:r>
            <a:r>
              <a:rPr lang="en-US">
                <a:solidFill>
                  <a:schemeClr val="dk1"/>
                </a:solidFill>
                <a:latin typeface="Plus Jakarta Sans SemiBold"/>
                <a:ea typeface="Plus Jakarta Sans SemiBold"/>
                <a:cs typeface="Plus Jakarta Sans SemiBold"/>
                <a:sym typeface="Plus Jakarta Sans SemiBold"/>
              </a:rPr>
              <a:t>, </a:t>
            </a:r>
            <a:r>
              <a:rPr lang="en-US">
                <a:solidFill>
                  <a:srgbClr val="188038"/>
                </a:solidFill>
                <a:latin typeface="Plus Jakarta Sans SemiBold"/>
                <a:ea typeface="Plus Jakarta Sans SemiBold"/>
                <a:cs typeface="Plus Jakarta Sans SemiBold"/>
                <a:sym typeface="Plus Jakarta Sans SemiBold"/>
              </a:rPr>
              <a:t>stg_order_items</a:t>
            </a:r>
            <a:r>
              <a:rPr lang="en-US">
                <a:solidFill>
                  <a:schemeClr val="dk1"/>
                </a:solidFill>
                <a:latin typeface="Plus Jakarta Sans SemiBold"/>
                <a:ea typeface="Plus Jakarta Sans SemiBold"/>
                <a:cs typeface="Plus Jakarta Sans SemiBold"/>
                <a:sym typeface="Plus Jakarta Sans SemiBold"/>
              </a:rPr>
              <a:t>, </a:t>
            </a:r>
            <a:r>
              <a:rPr lang="en-US">
                <a:solidFill>
                  <a:srgbClr val="188038"/>
                </a:solidFill>
                <a:latin typeface="Plus Jakarta Sans SemiBold"/>
                <a:ea typeface="Plus Jakarta Sans SemiBold"/>
                <a:cs typeface="Plus Jakarta Sans SemiBold"/>
                <a:sym typeface="Plus Jakarta Sans SemiBold"/>
              </a:rPr>
              <a:t>stg_reviews</a:t>
            </a:r>
            <a:r>
              <a:rPr lang="en-US">
                <a:solidFill>
                  <a:schemeClr val="dk1"/>
                </a:solidFill>
                <a:latin typeface="Plus Jakarta Sans SemiBold"/>
                <a:ea typeface="Plus Jakarta Sans SemiBold"/>
                <a:cs typeface="Plus Jakarta Sans SemiBold"/>
                <a:sym typeface="Plus Jakarta Sans SemiBold"/>
              </a:rPr>
              <a:t>) jadi satu tabel fact </a:t>
            </a:r>
            <a:endParaRPr>
              <a:solidFill>
                <a:schemeClr val="dk1"/>
              </a:solidFill>
              <a:latin typeface="Plus Jakarta Sans SemiBold"/>
              <a:ea typeface="Plus Jakarta Sans SemiBold"/>
              <a:cs typeface="Plus Jakarta Sans SemiBold"/>
              <a:sym typeface="Plus Jakarta Sans SemiBold"/>
            </a:endParaRPr>
          </a:p>
          <a:p>
            <a:pPr indent="-180340" lvl="0" marL="182880" marR="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dim_sellers:</a:t>
            </a:r>
            <a:endParaRPr>
              <a:solidFill>
                <a:schemeClr val="dk1"/>
              </a:solidFill>
              <a:latin typeface="Plus Jakarta Sans SemiBold"/>
              <a:ea typeface="Plus Jakarta Sans SemiBold"/>
              <a:cs typeface="Plus Jakarta Sans SemiBold"/>
              <a:sym typeface="Plus Jakarta Sans SemiBold"/>
            </a:endParaRPr>
          </a:p>
          <a:p>
            <a:pPr indent="0" lvl="0" marL="182880" marR="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Mengambil 3 kolom yang dibutuhkan untuk analisis (</a:t>
            </a:r>
            <a:r>
              <a:rPr lang="en-US">
                <a:solidFill>
                  <a:srgbClr val="188038"/>
                </a:solidFill>
                <a:latin typeface="Plus Jakarta Sans SemiBold"/>
                <a:ea typeface="Plus Jakarta Sans SemiBold"/>
                <a:cs typeface="Plus Jakarta Sans SemiBold"/>
                <a:sym typeface="Plus Jakarta Sans SemiBold"/>
              </a:rPr>
              <a:t>seller_id, seller_city, seller_state</a:t>
            </a:r>
            <a:r>
              <a:rPr lang="en-US">
                <a:solidFill>
                  <a:schemeClr val="dk1"/>
                </a:solidFill>
                <a:latin typeface="Plus Jakarta Sans SemiBold"/>
                <a:ea typeface="Plus Jakarta Sans SemiBold"/>
                <a:cs typeface="Plus Jakarta Sans SemiBold"/>
                <a:sym typeface="Plus Jakarta Sans SemiBold"/>
              </a:rPr>
              <a:t>)</a:t>
            </a:r>
            <a:endParaRPr>
              <a:solidFill>
                <a:schemeClr val="dk1"/>
              </a:solidFill>
              <a:latin typeface="Plus Jakarta Sans SemiBold"/>
              <a:ea typeface="Plus Jakarta Sans SemiBold"/>
              <a:cs typeface="Plus Jakarta Sans SemiBold"/>
              <a:sym typeface="Plus Jakarta Sans SemiBold"/>
            </a:endParaRPr>
          </a:p>
          <a:p>
            <a:pPr indent="-180340" lvl="0" marL="182880" marR="0" rtl="0" algn="l">
              <a:spcBef>
                <a:spcPts val="0"/>
              </a:spcBef>
              <a:spcAft>
                <a:spcPts val="0"/>
              </a:spcAft>
              <a:buClr>
                <a:schemeClr val="dk1"/>
              </a:buClr>
              <a:buSzPts val="1400"/>
              <a:buFont typeface="Plus Jakarta Sans SemiBold"/>
              <a:buChar char="●"/>
            </a:pPr>
            <a:r>
              <a:rPr lang="en-US">
                <a:solidFill>
                  <a:schemeClr val="dk1"/>
                </a:solidFill>
                <a:latin typeface="Plus Jakarta Sans SemiBold"/>
                <a:ea typeface="Plus Jakarta Sans SemiBold"/>
                <a:cs typeface="Plus Jakarta Sans SemiBold"/>
                <a:sym typeface="Plus Jakarta Sans SemiBold"/>
              </a:rPr>
              <a:t>dim_customers:</a:t>
            </a:r>
            <a:endParaRPr>
              <a:solidFill>
                <a:schemeClr val="dk1"/>
              </a:solidFill>
              <a:latin typeface="Plus Jakarta Sans SemiBold"/>
              <a:ea typeface="Plus Jakarta Sans SemiBold"/>
              <a:cs typeface="Plus Jakarta Sans SemiBold"/>
              <a:sym typeface="Plus Jakarta Sans SemiBold"/>
            </a:endParaRPr>
          </a:p>
          <a:p>
            <a:pPr indent="0" lvl="0" marL="18288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Mengambil 3 kolom yang dibutuhkan untuk analisis (</a:t>
            </a:r>
            <a:r>
              <a:rPr lang="en-US">
                <a:solidFill>
                  <a:srgbClr val="188038"/>
                </a:solidFill>
                <a:latin typeface="Plus Jakarta Sans SemiBold"/>
                <a:ea typeface="Plus Jakarta Sans SemiBold"/>
                <a:cs typeface="Plus Jakarta Sans SemiBold"/>
                <a:sym typeface="Plus Jakarta Sans SemiBold"/>
              </a:rPr>
              <a:t>customer_id, customer_city, customer_state</a:t>
            </a:r>
            <a:r>
              <a:rPr lang="en-US">
                <a:solidFill>
                  <a:schemeClr val="dk1"/>
                </a:solidFill>
                <a:latin typeface="Plus Jakarta Sans SemiBold"/>
                <a:ea typeface="Plus Jakarta Sans SemiBold"/>
                <a:cs typeface="Plus Jakarta Sans SemiBold"/>
                <a:sym typeface="Plus Jakarta Sans SemiBold"/>
              </a:rPr>
              <a:t>)</a:t>
            </a:r>
            <a:endParaRPr>
              <a:solidFill>
                <a:schemeClr val="dk1"/>
              </a:solidFill>
              <a:latin typeface="Plus Jakarta Sans SemiBold"/>
              <a:ea typeface="Plus Jakarta Sans SemiBold"/>
              <a:cs typeface="Plus Jakarta Sans SemiBold"/>
              <a:sym typeface="Plus Jakarta Sans SemiBold"/>
            </a:endParaRPr>
          </a:p>
        </p:txBody>
      </p:sp>
      <p:sp>
        <p:nvSpPr>
          <p:cNvPr id="344" name="Google Shape;344;g3fb2bf11783_0_80"/>
          <p:cNvSpPr txBox="1"/>
          <p:nvPr/>
        </p:nvSpPr>
        <p:spPr>
          <a:xfrm>
            <a:off x="622075" y="658200"/>
            <a:ext cx="7775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Transformasi (bronze</a:t>
            </a:r>
            <a:r>
              <a:rPr b="1" lang="en-US" sz="4000">
                <a:solidFill>
                  <a:srgbClr val="F08B33"/>
                </a:solidFill>
                <a:latin typeface="Plus Jakarta Sans"/>
                <a:ea typeface="Plus Jakarta Sans"/>
                <a:cs typeface="Plus Jakarta Sans"/>
                <a:sym typeface="Plus Jakarta Sans"/>
              </a:rPr>
              <a:t>-&gt;silver)</a:t>
            </a:r>
            <a:endParaRPr b="1" sz="4000">
              <a:solidFill>
                <a:srgbClr val="F08B33"/>
              </a:solidFill>
              <a:latin typeface="Plus Jakarta Sans"/>
              <a:ea typeface="Plus Jakarta Sans"/>
              <a:cs typeface="Plus Jakarta Sans"/>
              <a:sym typeface="Plus Jakarta Sans"/>
            </a:endParaRPr>
          </a:p>
        </p:txBody>
      </p:sp>
      <p:pic>
        <p:nvPicPr>
          <p:cNvPr id="345" name="Google Shape;345;g3fb2bf11783_0_80"/>
          <p:cNvPicPr preferRelativeResize="0"/>
          <p:nvPr/>
        </p:nvPicPr>
        <p:blipFill>
          <a:blip r:embed="rId4">
            <a:alphaModFix/>
          </a:blip>
          <a:stretch>
            <a:fillRect/>
          </a:stretch>
        </p:blipFill>
        <p:spPr>
          <a:xfrm>
            <a:off x="4804100" y="1541550"/>
            <a:ext cx="4011279" cy="2955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349" name="Shape 349"/>
        <p:cNvGrpSpPr/>
        <p:nvPr/>
      </p:nvGrpSpPr>
      <p:grpSpPr>
        <a:xfrm>
          <a:off x="0" y="0"/>
          <a:ext cx="0" cy="0"/>
          <a:chOff x="0" y="0"/>
          <a:chExt cx="0" cy="0"/>
        </a:xfrm>
      </p:grpSpPr>
      <p:sp>
        <p:nvSpPr>
          <p:cNvPr id="350" name="Google Shape;350;g27348ee98e6_0_67"/>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1" name="Google Shape;351;g27348ee98e6_0_67"/>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2" name="Google Shape;352;g27348ee98e6_0_67"/>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3" name="Google Shape;353;g27348ee98e6_0_67"/>
          <p:cNvSpPr txBox="1"/>
          <p:nvPr>
            <p:ph type="ctrTitle"/>
          </p:nvPr>
        </p:nvSpPr>
        <p:spPr>
          <a:xfrm>
            <a:off x="3911700" y="1837475"/>
            <a:ext cx="5203800" cy="1491600"/>
          </a:xfrm>
          <a:prstGeom prst="rect">
            <a:avLst/>
          </a:prstGeom>
          <a:noFill/>
          <a:ln>
            <a:noFill/>
          </a:ln>
        </p:spPr>
        <p:txBody>
          <a:bodyPr anchorCtr="0" anchor="ctr" bIns="45700" lIns="91425" spcFirstLastPara="1" rIns="91425" wrap="square" tIns="45700">
            <a:noAutofit/>
          </a:bodyPr>
          <a:lstStyle/>
          <a:p>
            <a:pPr indent="0" lvl="0" marL="0" rtl="0" algn="l">
              <a:lnSpc>
                <a:spcPct val="85000"/>
              </a:lnSpc>
              <a:spcBef>
                <a:spcPts val="0"/>
              </a:spcBef>
              <a:spcAft>
                <a:spcPts val="0"/>
              </a:spcAft>
              <a:buSzPts val="1100"/>
              <a:buNone/>
            </a:pPr>
            <a:r>
              <a:rPr b="1" lang="en-US" sz="4020">
                <a:solidFill>
                  <a:schemeClr val="lt1"/>
                </a:solidFill>
                <a:latin typeface="Plus Jakarta Sans"/>
                <a:ea typeface="Plus Jakarta Sans"/>
                <a:cs typeface="Plus Jakarta Sans"/>
                <a:sym typeface="Plus Jakarta Sans"/>
              </a:rPr>
              <a:t>Data Modeling  (Business)</a:t>
            </a:r>
            <a:endParaRPr b="1" sz="4020">
              <a:solidFill>
                <a:schemeClr val="lt1"/>
              </a:solidFill>
              <a:latin typeface="Plus Jakarta Sans"/>
              <a:ea typeface="Plus Jakarta Sans"/>
              <a:cs typeface="Plus Jakarta Sans"/>
              <a:sym typeface="Plus Jakarta Sans"/>
            </a:endParaRPr>
          </a:p>
        </p:txBody>
      </p:sp>
      <p:pic>
        <p:nvPicPr>
          <p:cNvPr id="354" name="Google Shape;354;g27348ee98e6_0_67"/>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8" name="Shape 358"/>
        <p:cNvGrpSpPr/>
        <p:nvPr/>
      </p:nvGrpSpPr>
      <p:grpSpPr>
        <a:xfrm>
          <a:off x="0" y="0"/>
          <a:ext cx="0" cy="0"/>
          <a:chOff x="0" y="0"/>
          <a:chExt cx="0" cy="0"/>
        </a:xfrm>
      </p:grpSpPr>
      <p:pic>
        <p:nvPicPr>
          <p:cNvPr id="359" name="Google Shape;359;g3fb27239cfa_0_17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60" name="Google Shape;360;g3fb27239cfa_0_177"/>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Schema : raw</a:t>
            </a:r>
            <a:endParaRPr b="1" sz="4000">
              <a:solidFill>
                <a:srgbClr val="F08B33"/>
              </a:solidFill>
              <a:latin typeface="Plus Jakarta Sans"/>
              <a:ea typeface="Plus Jakarta Sans"/>
              <a:cs typeface="Plus Jakarta Sans"/>
              <a:sym typeface="Plus Jakarta Sans"/>
            </a:endParaRPr>
          </a:p>
        </p:txBody>
      </p:sp>
      <p:pic>
        <p:nvPicPr>
          <p:cNvPr id="361" name="Google Shape;361;g3fb27239cfa_0_177"/>
          <p:cNvPicPr preferRelativeResize="0"/>
          <p:nvPr/>
        </p:nvPicPr>
        <p:blipFill>
          <a:blip r:embed="rId4">
            <a:alphaModFix/>
          </a:blip>
          <a:stretch>
            <a:fillRect/>
          </a:stretch>
        </p:blipFill>
        <p:spPr>
          <a:xfrm>
            <a:off x="1323563" y="1290000"/>
            <a:ext cx="6500069" cy="34740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5" name="Shape 365"/>
        <p:cNvGrpSpPr/>
        <p:nvPr/>
      </p:nvGrpSpPr>
      <p:grpSpPr>
        <a:xfrm>
          <a:off x="0" y="0"/>
          <a:ext cx="0" cy="0"/>
          <a:chOff x="0" y="0"/>
          <a:chExt cx="0" cy="0"/>
        </a:xfrm>
      </p:grpSpPr>
      <p:pic>
        <p:nvPicPr>
          <p:cNvPr id="366" name="Google Shape;366;g3fb27239cfa_0_19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67" name="Google Shape;367;g3fb27239cfa_0_193"/>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Schema : bronze</a:t>
            </a:r>
            <a:endParaRPr b="1" sz="4000">
              <a:solidFill>
                <a:srgbClr val="F08B33"/>
              </a:solidFill>
              <a:latin typeface="Plus Jakarta Sans"/>
              <a:ea typeface="Plus Jakarta Sans"/>
              <a:cs typeface="Plus Jakarta Sans"/>
              <a:sym typeface="Plus Jakarta Sans"/>
            </a:endParaRPr>
          </a:p>
        </p:txBody>
      </p:sp>
      <p:pic>
        <p:nvPicPr>
          <p:cNvPr id="368" name="Google Shape;368;g3fb27239cfa_0_193"/>
          <p:cNvPicPr preferRelativeResize="0"/>
          <p:nvPr/>
        </p:nvPicPr>
        <p:blipFill>
          <a:blip r:embed="rId4">
            <a:alphaModFix/>
          </a:blip>
          <a:stretch>
            <a:fillRect/>
          </a:stretch>
        </p:blipFill>
        <p:spPr>
          <a:xfrm>
            <a:off x="1892213" y="1255225"/>
            <a:ext cx="5361139" cy="3626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72" name="Shape 372"/>
        <p:cNvGrpSpPr/>
        <p:nvPr/>
      </p:nvGrpSpPr>
      <p:grpSpPr>
        <a:xfrm>
          <a:off x="0" y="0"/>
          <a:ext cx="0" cy="0"/>
          <a:chOff x="0" y="0"/>
          <a:chExt cx="0" cy="0"/>
        </a:xfrm>
      </p:grpSpPr>
      <p:pic>
        <p:nvPicPr>
          <p:cNvPr id="373" name="Google Shape;373;g3fb27239cfa_0_20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74" name="Google Shape;374;g3fb27239cfa_0_200"/>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Schema : silver</a:t>
            </a:r>
            <a:endParaRPr b="1" sz="4000">
              <a:solidFill>
                <a:srgbClr val="F08B33"/>
              </a:solidFill>
              <a:latin typeface="Plus Jakarta Sans"/>
              <a:ea typeface="Plus Jakarta Sans"/>
              <a:cs typeface="Plus Jakarta Sans"/>
              <a:sym typeface="Plus Jakarta Sans"/>
            </a:endParaRPr>
          </a:p>
        </p:txBody>
      </p:sp>
      <p:pic>
        <p:nvPicPr>
          <p:cNvPr id="375" name="Google Shape;375;g3fb27239cfa_0_200"/>
          <p:cNvPicPr preferRelativeResize="0"/>
          <p:nvPr/>
        </p:nvPicPr>
        <p:blipFill>
          <a:blip r:embed="rId4">
            <a:alphaModFix/>
          </a:blip>
          <a:stretch>
            <a:fillRect/>
          </a:stretch>
        </p:blipFill>
        <p:spPr>
          <a:xfrm>
            <a:off x="1025500" y="1243750"/>
            <a:ext cx="7094553" cy="3626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79" name="Shape 379"/>
        <p:cNvGrpSpPr/>
        <p:nvPr/>
      </p:nvGrpSpPr>
      <p:grpSpPr>
        <a:xfrm>
          <a:off x="0" y="0"/>
          <a:ext cx="0" cy="0"/>
          <a:chOff x="0" y="0"/>
          <a:chExt cx="0" cy="0"/>
        </a:xfrm>
      </p:grpSpPr>
      <p:pic>
        <p:nvPicPr>
          <p:cNvPr id="380" name="Google Shape;380;g3fb27239cfa_0_20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81" name="Google Shape;381;g3fb27239cfa_0_207"/>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Schema : gold</a:t>
            </a:r>
            <a:endParaRPr b="1" sz="4000">
              <a:solidFill>
                <a:srgbClr val="F08B33"/>
              </a:solidFill>
              <a:latin typeface="Plus Jakarta Sans"/>
              <a:ea typeface="Plus Jakarta Sans"/>
              <a:cs typeface="Plus Jakarta Sans"/>
              <a:sym typeface="Plus Jakarta Sans"/>
            </a:endParaRPr>
          </a:p>
        </p:txBody>
      </p:sp>
      <p:pic>
        <p:nvPicPr>
          <p:cNvPr id="382" name="Google Shape;382;g3fb27239cfa_0_207"/>
          <p:cNvPicPr preferRelativeResize="0"/>
          <p:nvPr/>
        </p:nvPicPr>
        <p:blipFill>
          <a:blip r:embed="rId4">
            <a:alphaModFix/>
          </a:blip>
          <a:stretch>
            <a:fillRect/>
          </a:stretch>
        </p:blipFill>
        <p:spPr>
          <a:xfrm>
            <a:off x="152400" y="1384700"/>
            <a:ext cx="8840777" cy="328841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386" name="Shape 386"/>
        <p:cNvGrpSpPr/>
        <p:nvPr/>
      </p:nvGrpSpPr>
      <p:grpSpPr>
        <a:xfrm>
          <a:off x="0" y="0"/>
          <a:ext cx="0" cy="0"/>
          <a:chOff x="0" y="0"/>
          <a:chExt cx="0" cy="0"/>
        </a:xfrm>
      </p:grpSpPr>
      <p:sp>
        <p:nvSpPr>
          <p:cNvPr id="387" name="Google Shape;387;g3faa9c63d15_0_8"/>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8" name="Google Shape;388;g3faa9c63d15_0_8"/>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9" name="Google Shape;389;g3faa9c63d15_0_8"/>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0" name="Google Shape;390;g3faa9c63d15_0_8"/>
          <p:cNvSpPr txBox="1"/>
          <p:nvPr>
            <p:ph type="ctrTitle"/>
          </p:nvPr>
        </p:nvSpPr>
        <p:spPr>
          <a:xfrm>
            <a:off x="4449575" y="2208975"/>
            <a:ext cx="4696200" cy="1491600"/>
          </a:xfrm>
          <a:prstGeom prst="rect">
            <a:avLst/>
          </a:prstGeom>
          <a:noFill/>
          <a:ln>
            <a:noFill/>
          </a:ln>
        </p:spPr>
        <p:txBody>
          <a:bodyPr anchorCtr="0" anchor="ctr" bIns="45700" lIns="91425" spcFirstLastPara="1" rIns="91425" wrap="square" tIns="45700">
            <a:noAutofit/>
          </a:bodyPr>
          <a:lstStyle/>
          <a:p>
            <a:pPr indent="0" lvl="0" marL="0" rtl="0" algn="l">
              <a:lnSpc>
                <a:spcPct val="85000"/>
              </a:lnSpc>
              <a:spcBef>
                <a:spcPts val="0"/>
              </a:spcBef>
              <a:spcAft>
                <a:spcPts val="0"/>
              </a:spcAft>
              <a:buSzPts val="1100"/>
              <a:buNone/>
            </a:pPr>
            <a:r>
              <a:rPr b="1" lang="en-US" sz="4020">
                <a:solidFill>
                  <a:schemeClr val="lt1"/>
                </a:solidFill>
                <a:latin typeface="Plus Jakarta Sans"/>
                <a:ea typeface="Plus Jakarta Sans"/>
                <a:cs typeface="Plus Jakarta Sans"/>
                <a:sym typeface="Plus Jakarta Sans"/>
              </a:rPr>
              <a:t>Implementation Overview </a:t>
            </a:r>
            <a:endParaRPr b="1" sz="4020">
              <a:solidFill>
                <a:schemeClr val="lt1"/>
              </a:solidFill>
              <a:latin typeface="Plus Jakarta Sans"/>
              <a:ea typeface="Plus Jakarta Sans"/>
              <a:cs typeface="Plus Jakarta Sans"/>
              <a:sym typeface="Plus Jakarta Sans"/>
            </a:endParaRPr>
          </a:p>
        </p:txBody>
      </p:sp>
      <p:pic>
        <p:nvPicPr>
          <p:cNvPr id="391" name="Google Shape;391;g3faa9c63d15_0_8"/>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95" name="Shape 395"/>
        <p:cNvGrpSpPr/>
        <p:nvPr/>
      </p:nvGrpSpPr>
      <p:grpSpPr>
        <a:xfrm>
          <a:off x="0" y="0"/>
          <a:ext cx="0" cy="0"/>
          <a:chOff x="0" y="0"/>
          <a:chExt cx="0" cy="0"/>
        </a:xfrm>
      </p:grpSpPr>
      <p:pic>
        <p:nvPicPr>
          <p:cNvPr id="396" name="Google Shape;396;g3faa9c63d15_0_3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97" name="Google Shape;397;g3faa9c63d15_0_32"/>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Airflow Dags</a:t>
            </a:r>
            <a:endParaRPr b="1" sz="4000">
              <a:solidFill>
                <a:srgbClr val="F08B33"/>
              </a:solidFill>
              <a:latin typeface="Plus Jakarta Sans"/>
              <a:ea typeface="Plus Jakarta Sans"/>
              <a:cs typeface="Plus Jakarta Sans"/>
              <a:sym typeface="Plus Jakarta Sans"/>
            </a:endParaRPr>
          </a:p>
        </p:txBody>
      </p:sp>
      <p:pic>
        <p:nvPicPr>
          <p:cNvPr id="398" name="Google Shape;398;g3faa9c63d15_0_32"/>
          <p:cNvPicPr preferRelativeResize="0"/>
          <p:nvPr/>
        </p:nvPicPr>
        <p:blipFill>
          <a:blip r:embed="rId4">
            <a:alphaModFix/>
          </a:blip>
          <a:stretch>
            <a:fillRect/>
          </a:stretch>
        </p:blipFill>
        <p:spPr>
          <a:xfrm>
            <a:off x="685625" y="1213800"/>
            <a:ext cx="7774301" cy="3682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02" name="Shape 402"/>
        <p:cNvGrpSpPr/>
        <p:nvPr/>
      </p:nvGrpSpPr>
      <p:grpSpPr>
        <a:xfrm>
          <a:off x="0" y="0"/>
          <a:ext cx="0" cy="0"/>
          <a:chOff x="0" y="0"/>
          <a:chExt cx="0" cy="0"/>
        </a:xfrm>
      </p:grpSpPr>
      <p:pic>
        <p:nvPicPr>
          <p:cNvPr id="403" name="Google Shape;403;g3faa9c63d15_0_2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04" name="Google Shape;404;g3faa9c63d15_0_26"/>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Airflow Dag Master</a:t>
            </a:r>
            <a:endParaRPr b="1" sz="4000">
              <a:solidFill>
                <a:srgbClr val="F08B33"/>
              </a:solidFill>
              <a:latin typeface="Plus Jakarta Sans"/>
              <a:ea typeface="Plus Jakarta Sans"/>
              <a:cs typeface="Plus Jakarta Sans"/>
              <a:sym typeface="Plus Jakarta Sans"/>
            </a:endParaRPr>
          </a:p>
        </p:txBody>
      </p:sp>
      <p:pic>
        <p:nvPicPr>
          <p:cNvPr id="405" name="Google Shape;405;g3faa9c63d15_0_26"/>
          <p:cNvPicPr preferRelativeResize="0"/>
          <p:nvPr/>
        </p:nvPicPr>
        <p:blipFill>
          <a:blip r:embed="rId4">
            <a:alphaModFix/>
          </a:blip>
          <a:stretch>
            <a:fillRect/>
          </a:stretch>
        </p:blipFill>
        <p:spPr>
          <a:xfrm>
            <a:off x="603900" y="1213800"/>
            <a:ext cx="7937776" cy="37476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09" name="Shape 409"/>
        <p:cNvGrpSpPr/>
        <p:nvPr/>
      </p:nvGrpSpPr>
      <p:grpSpPr>
        <a:xfrm>
          <a:off x="0" y="0"/>
          <a:ext cx="0" cy="0"/>
          <a:chOff x="0" y="0"/>
          <a:chExt cx="0" cy="0"/>
        </a:xfrm>
      </p:grpSpPr>
      <p:pic>
        <p:nvPicPr>
          <p:cNvPr id="410" name="Google Shape;410;g3faa9c63d15_0_1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11" name="Google Shape;411;g3faa9c63d15_0_19"/>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Lineage</a:t>
            </a:r>
            <a:endParaRPr b="1" sz="4000">
              <a:solidFill>
                <a:srgbClr val="F08B33"/>
              </a:solidFill>
              <a:latin typeface="Plus Jakarta Sans"/>
              <a:ea typeface="Plus Jakarta Sans"/>
              <a:cs typeface="Plus Jakarta Sans"/>
              <a:sym typeface="Plus Jakarta Sans"/>
            </a:endParaRPr>
          </a:p>
        </p:txBody>
      </p:sp>
      <p:pic>
        <p:nvPicPr>
          <p:cNvPr id="412" name="Google Shape;412;g3faa9c63d15_0_19"/>
          <p:cNvPicPr preferRelativeResize="0"/>
          <p:nvPr/>
        </p:nvPicPr>
        <p:blipFill>
          <a:blip r:embed="rId4">
            <a:alphaModFix/>
          </a:blip>
          <a:stretch>
            <a:fillRect/>
          </a:stretch>
        </p:blipFill>
        <p:spPr>
          <a:xfrm>
            <a:off x="695638" y="1213800"/>
            <a:ext cx="7754308" cy="36264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16" name="Shape 416"/>
        <p:cNvGrpSpPr/>
        <p:nvPr/>
      </p:nvGrpSpPr>
      <p:grpSpPr>
        <a:xfrm>
          <a:off x="0" y="0"/>
          <a:ext cx="0" cy="0"/>
          <a:chOff x="0" y="0"/>
          <a:chExt cx="0" cy="0"/>
        </a:xfrm>
      </p:grpSpPr>
      <p:pic>
        <p:nvPicPr>
          <p:cNvPr id="417" name="Google Shape;417;g3fb2bf11783_0_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18" name="Google Shape;418;g3fb2bf11783_0_8"/>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Dashboard</a:t>
            </a:r>
            <a:endParaRPr b="1" sz="4000">
              <a:solidFill>
                <a:srgbClr val="F08B33"/>
              </a:solidFill>
              <a:latin typeface="Plus Jakarta Sans"/>
              <a:ea typeface="Plus Jakarta Sans"/>
              <a:cs typeface="Plus Jakarta Sans"/>
              <a:sym typeface="Plus Jakarta Sans"/>
            </a:endParaRPr>
          </a:p>
        </p:txBody>
      </p:sp>
      <p:pic>
        <p:nvPicPr>
          <p:cNvPr id="419" name="Google Shape;419;g3fb2bf11783_0_8"/>
          <p:cNvPicPr preferRelativeResize="0"/>
          <p:nvPr/>
        </p:nvPicPr>
        <p:blipFill>
          <a:blip r:embed="rId4">
            <a:alphaModFix/>
          </a:blip>
          <a:stretch>
            <a:fillRect/>
          </a:stretch>
        </p:blipFill>
        <p:spPr>
          <a:xfrm>
            <a:off x="1993425" y="1213800"/>
            <a:ext cx="5158726" cy="3775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23" name="Shape 423"/>
        <p:cNvGrpSpPr/>
        <p:nvPr/>
      </p:nvGrpSpPr>
      <p:grpSpPr>
        <a:xfrm>
          <a:off x="0" y="0"/>
          <a:ext cx="0" cy="0"/>
          <a:chOff x="0" y="0"/>
          <a:chExt cx="0" cy="0"/>
        </a:xfrm>
      </p:grpSpPr>
      <p:pic>
        <p:nvPicPr>
          <p:cNvPr id="424" name="Google Shape;424;g3fb2bf11783_0_4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25" name="Google Shape;425;g3fb2bf11783_0_43"/>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Dashboard</a:t>
            </a:r>
            <a:endParaRPr b="1" sz="4000">
              <a:solidFill>
                <a:srgbClr val="F08B33"/>
              </a:solidFill>
              <a:latin typeface="Plus Jakarta Sans"/>
              <a:ea typeface="Plus Jakarta Sans"/>
              <a:cs typeface="Plus Jakarta Sans"/>
              <a:sym typeface="Plus Jakarta Sans"/>
            </a:endParaRPr>
          </a:p>
        </p:txBody>
      </p:sp>
      <p:pic>
        <p:nvPicPr>
          <p:cNvPr id="426" name="Google Shape;426;g3fb2bf11783_0_43"/>
          <p:cNvPicPr preferRelativeResize="0"/>
          <p:nvPr/>
        </p:nvPicPr>
        <p:blipFill>
          <a:blip r:embed="rId4">
            <a:alphaModFix/>
          </a:blip>
          <a:stretch>
            <a:fillRect/>
          </a:stretch>
        </p:blipFill>
        <p:spPr>
          <a:xfrm>
            <a:off x="2160988" y="1254775"/>
            <a:ext cx="4825226" cy="37709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430" name="Shape 430"/>
        <p:cNvGrpSpPr/>
        <p:nvPr/>
      </p:nvGrpSpPr>
      <p:grpSpPr>
        <a:xfrm>
          <a:off x="0" y="0"/>
          <a:ext cx="0" cy="0"/>
          <a:chOff x="0" y="0"/>
          <a:chExt cx="0" cy="0"/>
        </a:xfrm>
      </p:grpSpPr>
      <p:sp>
        <p:nvSpPr>
          <p:cNvPr id="431" name="Google Shape;431;g3fb2bf11783_0_0"/>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32" name="Google Shape;432;g3fb2bf11783_0_0"/>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33" name="Google Shape;433;g3fb2bf11783_0_0"/>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34" name="Google Shape;434;g3fb2bf11783_0_0"/>
          <p:cNvSpPr txBox="1"/>
          <p:nvPr>
            <p:ph type="ctrTitle"/>
          </p:nvPr>
        </p:nvSpPr>
        <p:spPr>
          <a:xfrm>
            <a:off x="3911700" y="1837475"/>
            <a:ext cx="5203800" cy="1491600"/>
          </a:xfrm>
          <a:prstGeom prst="rect">
            <a:avLst/>
          </a:prstGeom>
          <a:noFill/>
          <a:ln>
            <a:noFill/>
          </a:ln>
        </p:spPr>
        <p:txBody>
          <a:bodyPr anchorCtr="0" anchor="ctr" bIns="45700" lIns="91425" spcFirstLastPara="1" rIns="91425" wrap="square" tIns="45700">
            <a:noAutofit/>
          </a:bodyPr>
          <a:lstStyle/>
          <a:p>
            <a:pPr indent="0" lvl="0" marL="0" rtl="0" algn="l">
              <a:lnSpc>
                <a:spcPct val="85000"/>
              </a:lnSpc>
              <a:spcBef>
                <a:spcPts val="0"/>
              </a:spcBef>
              <a:spcAft>
                <a:spcPts val="0"/>
              </a:spcAft>
              <a:buSzPts val="1100"/>
              <a:buNone/>
            </a:pPr>
            <a:r>
              <a:rPr b="1" lang="en-US" sz="4020">
                <a:solidFill>
                  <a:schemeClr val="lt1"/>
                </a:solidFill>
                <a:latin typeface="Plus Jakarta Sans"/>
                <a:ea typeface="Plus Jakarta Sans"/>
                <a:cs typeface="Plus Jakarta Sans"/>
                <a:sym typeface="Plus Jakarta Sans"/>
              </a:rPr>
              <a:t>Conclusion &amp; Recommendation</a:t>
            </a:r>
            <a:endParaRPr b="1" sz="4020">
              <a:solidFill>
                <a:schemeClr val="lt1"/>
              </a:solidFill>
              <a:latin typeface="Plus Jakarta Sans"/>
              <a:ea typeface="Plus Jakarta Sans"/>
              <a:cs typeface="Plus Jakarta Sans"/>
              <a:sym typeface="Plus Jakarta Sans"/>
            </a:endParaRPr>
          </a:p>
        </p:txBody>
      </p:sp>
      <p:pic>
        <p:nvPicPr>
          <p:cNvPr id="435" name="Google Shape;435;g3fb2bf11783_0_0"/>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39" name="Shape 439"/>
        <p:cNvGrpSpPr/>
        <p:nvPr/>
      </p:nvGrpSpPr>
      <p:grpSpPr>
        <a:xfrm>
          <a:off x="0" y="0"/>
          <a:ext cx="0" cy="0"/>
          <a:chOff x="0" y="0"/>
          <a:chExt cx="0" cy="0"/>
        </a:xfrm>
      </p:grpSpPr>
      <p:pic>
        <p:nvPicPr>
          <p:cNvPr id="440" name="Google Shape;440;g3fb2bf11783_0_5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41" name="Google Shape;441;g3fb2bf11783_0_50"/>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Conclusion</a:t>
            </a:r>
            <a:endParaRPr b="1" sz="4000">
              <a:solidFill>
                <a:srgbClr val="F08B33"/>
              </a:solidFill>
              <a:latin typeface="Plus Jakarta Sans"/>
              <a:ea typeface="Plus Jakarta Sans"/>
              <a:cs typeface="Plus Jakarta Sans"/>
              <a:sym typeface="Plus Jakarta Sans"/>
            </a:endParaRPr>
          </a:p>
        </p:txBody>
      </p:sp>
      <p:sp>
        <p:nvSpPr>
          <p:cNvPr id="442" name="Google Shape;442;g3fb2bf11783_0_50"/>
          <p:cNvSpPr txBox="1"/>
          <p:nvPr/>
        </p:nvSpPr>
        <p:spPr>
          <a:xfrm>
            <a:off x="622075" y="1213800"/>
            <a:ext cx="81933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Plus Jakarta Sans SemiBold"/>
                <a:ea typeface="Plus Jakarta Sans SemiBold"/>
                <a:cs typeface="Plus Jakarta Sans SemiBold"/>
                <a:sym typeface="Plus Jakarta Sans SemiBold"/>
              </a:rPr>
              <a:t>Proyek ini berhasil membangun pipeline data batch end-to-end yang menjawab problem statement awal — dampak keterlambatan pengiriman terhadap rating pelanggan, performa seller, dan tren regional: </a:t>
            </a:r>
            <a:endParaRPr>
              <a:solidFill>
                <a:schemeClr val="dk1"/>
              </a:solidFill>
              <a:latin typeface="Plus Jakarta Sans SemiBold"/>
              <a:ea typeface="Plus Jakarta Sans SemiBold"/>
              <a:cs typeface="Plus Jakarta Sans SemiBold"/>
              <a:sym typeface="Plus Jakarta Sans SemiBold"/>
            </a:endParaRPr>
          </a:p>
          <a:p>
            <a:pPr indent="0" lvl="0" marL="0" rtl="0" algn="l">
              <a:spcBef>
                <a:spcPts val="0"/>
              </a:spcBef>
              <a:spcAft>
                <a:spcPts val="0"/>
              </a:spcAft>
              <a:buNone/>
            </a:pPr>
            <a:r>
              <a:t/>
            </a:r>
            <a:endParaRPr>
              <a:solidFill>
                <a:schemeClr val="dk1"/>
              </a:solidFill>
              <a:latin typeface="Plus Jakarta Sans SemiBold"/>
              <a:ea typeface="Plus Jakarta Sans SemiBold"/>
              <a:cs typeface="Plus Jakarta Sans SemiBold"/>
              <a:sym typeface="Plus Jakarta Sans SemiBold"/>
            </a:endParaRPr>
          </a:p>
          <a:p>
            <a:pPr indent="-167640" lvl="0" marL="228600" rtl="0" algn="l">
              <a:spcBef>
                <a:spcPts val="0"/>
              </a:spcBef>
              <a:spcAft>
                <a:spcPts val="0"/>
              </a:spcAft>
              <a:buSzPts val="1200"/>
              <a:buFont typeface="Plus Jakarta Sans SemiBold"/>
              <a:buChar char="●"/>
            </a:pPr>
            <a:r>
              <a:rPr lang="en-US" sz="1200" u="sng">
                <a:solidFill>
                  <a:schemeClr val="dk1"/>
                </a:solidFill>
                <a:latin typeface="Plus Jakarta Sans SemiBold"/>
                <a:ea typeface="Plus Jakarta Sans SemiBold"/>
                <a:cs typeface="Plus Jakarta Sans SemiBold"/>
                <a:sym typeface="Plus Jakarta Sans SemiBold"/>
              </a:rPr>
              <a:t>Otomatisasi </a:t>
            </a:r>
            <a:r>
              <a:rPr lang="en-US" sz="1200">
                <a:solidFill>
                  <a:schemeClr val="dk1"/>
                </a:solidFill>
                <a:latin typeface="Plus Jakarta Sans SemiBold"/>
                <a:ea typeface="Plus Jakarta Sans SemiBold"/>
                <a:cs typeface="Plus Jakarta Sans SemiBold"/>
                <a:sym typeface="Plus Jakarta Sans SemiBold"/>
              </a:rPr>
              <a:t>: Seluruh pipeline diorkestrasi melalui Airflow menggunakan desain multi-DAG (extract-load, star schema, delay analysis, regional delay, seller performance), bukan satu DAG monolitik, sehingga setiap lingkup analisis dapat dijalankan dan dipelihara secara independen. </a:t>
            </a:r>
            <a:endParaRPr sz="1200">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sz="1200">
              <a:solidFill>
                <a:schemeClr val="dk1"/>
              </a:solidFill>
              <a:latin typeface="Plus Jakarta Sans SemiBold"/>
              <a:ea typeface="Plus Jakarta Sans SemiBold"/>
              <a:cs typeface="Plus Jakarta Sans SemiBold"/>
              <a:sym typeface="Plus Jakarta Sans SemiBold"/>
            </a:endParaRPr>
          </a:p>
          <a:p>
            <a:pPr indent="-167640" lvl="0" marL="228600" rtl="0" algn="l">
              <a:spcBef>
                <a:spcPts val="0"/>
              </a:spcBef>
              <a:spcAft>
                <a:spcPts val="0"/>
              </a:spcAft>
              <a:buSzPts val="1200"/>
              <a:buFont typeface="Plus Jakarta Sans SemiBold"/>
              <a:buChar char="●"/>
            </a:pPr>
            <a:r>
              <a:rPr lang="en-US" sz="1200" u="sng">
                <a:solidFill>
                  <a:schemeClr val="dk1"/>
                </a:solidFill>
                <a:latin typeface="Plus Jakarta Sans SemiBold"/>
                <a:ea typeface="Plus Jakarta Sans SemiBold"/>
                <a:cs typeface="Plus Jakarta Sans SemiBold"/>
                <a:sym typeface="Plus Jakarta Sans SemiBold"/>
              </a:rPr>
              <a:t>Arsitektur Data</a:t>
            </a:r>
            <a:r>
              <a:rPr lang="en-US" sz="1200">
                <a:solidFill>
                  <a:schemeClr val="dk1"/>
                </a:solidFill>
                <a:latin typeface="Plus Jakarta Sans SemiBold"/>
                <a:ea typeface="Plus Jakarta Sans SemiBold"/>
                <a:cs typeface="Plus Jakarta Sans SemiBold"/>
                <a:sym typeface="Plus Jakarta Sans SemiBold"/>
              </a:rPr>
              <a:t> : Menerapkan Medallion Architecture (Bronze → Silver → Gold) di dbt, memisahkan secara jelas antara ingestion data mentah, pemodelan dimensional, dan data mart siap pakai. </a:t>
            </a:r>
            <a:endParaRPr sz="1200">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sz="1200">
              <a:solidFill>
                <a:schemeClr val="dk1"/>
              </a:solidFill>
              <a:latin typeface="Plus Jakarta Sans SemiBold"/>
              <a:ea typeface="Plus Jakarta Sans SemiBold"/>
              <a:cs typeface="Plus Jakarta Sans SemiBold"/>
              <a:sym typeface="Plus Jakarta Sans SemiBold"/>
            </a:endParaRPr>
          </a:p>
          <a:p>
            <a:pPr indent="-167640" lvl="0" marL="228600" rtl="0" algn="l">
              <a:spcBef>
                <a:spcPts val="0"/>
              </a:spcBef>
              <a:spcAft>
                <a:spcPts val="0"/>
              </a:spcAft>
              <a:buSzPts val="1200"/>
              <a:buFont typeface="Plus Jakarta Sans SemiBold"/>
              <a:buChar char="●"/>
            </a:pPr>
            <a:r>
              <a:rPr lang="en-US" sz="1200" u="sng">
                <a:solidFill>
                  <a:schemeClr val="dk1"/>
                </a:solidFill>
                <a:latin typeface="Plus Jakarta Sans SemiBold"/>
                <a:ea typeface="Plus Jakarta Sans SemiBold"/>
                <a:cs typeface="Plus Jakarta Sans SemiBold"/>
                <a:sym typeface="Plus Jakarta Sans SemiBold"/>
              </a:rPr>
              <a:t>Insight Bisnis yang Dihasilkan</a:t>
            </a:r>
            <a:r>
              <a:rPr lang="en-US" sz="1200">
                <a:solidFill>
                  <a:schemeClr val="dk1"/>
                </a:solidFill>
                <a:latin typeface="Plus Jakarta Sans SemiBold"/>
                <a:ea typeface="Plus Jakarta Sans SemiBold"/>
                <a:cs typeface="Plus Jakarta Sans SemiBold"/>
                <a:sym typeface="Plus Jakarta Sans SemiBold"/>
              </a:rPr>
              <a:t> : Menghasilkan dashboard Metabase yang mencakup dampak delay terhadap rating, tren delay platform, tren penurunan performa seller, dan tingkat delay regional (origin &amp; destination) — menjawab langsung pertanyaan awal.</a:t>
            </a:r>
            <a:endParaRPr sz="1200">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sz="1200">
              <a:solidFill>
                <a:schemeClr val="dk1"/>
              </a:solidFill>
              <a:latin typeface="Plus Jakarta Sans SemiBold"/>
              <a:ea typeface="Plus Jakarta Sans SemiBold"/>
              <a:cs typeface="Plus Jakarta Sans SemiBold"/>
              <a:sym typeface="Plus Jakarta Sans SemiBold"/>
            </a:endParaRPr>
          </a:p>
          <a:p>
            <a:pPr indent="-167640" lvl="0" marL="228600" rtl="0" algn="l">
              <a:spcBef>
                <a:spcPts val="0"/>
              </a:spcBef>
              <a:spcAft>
                <a:spcPts val="0"/>
              </a:spcAft>
              <a:buSzPts val="1200"/>
              <a:buFont typeface="Plus Jakarta Sans SemiBold"/>
              <a:buChar char="●"/>
            </a:pPr>
            <a:r>
              <a:rPr lang="en-US" sz="1200" u="sng">
                <a:solidFill>
                  <a:schemeClr val="dk1"/>
                </a:solidFill>
                <a:latin typeface="Plus Jakarta Sans SemiBold"/>
                <a:ea typeface="Plus Jakarta Sans SemiBold"/>
                <a:cs typeface="Plus Jakarta Sans SemiBold"/>
                <a:sym typeface="Plus Jakarta Sans SemiBold"/>
              </a:rPr>
              <a:t>Reproducibility </a:t>
            </a:r>
            <a:r>
              <a:rPr lang="en-US" sz="1200">
                <a:solidFill>
                  <a:schemeClr val="dk1"/>
                </a:solidFill>
                <a:latin typeface="Plus Jakarta Sans SemiBold"/>
                <a:ea typeface="Plus Jakarta Sans SemiBold"/>
                <a:cs typeface="Plus Jakarta Sans SemiBold"/>
                <a:sym typeface="Plus Jakarta Sans SemiBold"/>
              </a:rPr>
              <a:t>: Seluruh stack (PostgreSQL, Airflow, dbt, Metabase) di-containerize dengan Docker Compose, sehingga pipeline dapat direproduksi secara konsisten di lingkungan mana pun.  </a:t>
            </a:r>
            <a:endParaRPr sz="1500">
              <a:solidFill>
                <a:schemeClr val="dk1"/>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46" name="Shape 446"/>
        <p:cNvGrpSpPr/>
        <p:nvPr/>
      </p:nvGrpSpPr>
      <p:grpSpPr>
        <a:xfrm>
          <a:off x="0" y="0"/>
          <a:ext cx="0" cy="0"/>
          <a:chOff x="0" y="0"/>
          <a:chExt cx="0" cy="0"/>
        </a:xfrm>
      </p:grpSpPr>
      <p:pic>
        <p:nvPicPr>
          <p:cNvPr id="447" name="Google Shape;447;g3fb2bf11783_0_5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48" name="Google Shape;448;g3fb2bf11783_0_56"/>
          <p:cNvSpPr txBox="1"/>
          <p:nvPr/>
        </p:nvSpPr>
        <p:spPr>
          <a:xfrm>
            <a:off x="622075" y="505800"/>
            <a:ext cx="7211700" cy="708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4000">
                <a:solidFill>
                  <a:srgbClr val="F08B33"/>
                </a:solidFill>
                <a:latin typeface="Plus Jakarta Sans"/>
                <a:ea typeface="Plus Jakarta Sans"/>
                <a:cs typeface="Plus Jakarta Sans"/>
                <a:sym typeface="Plus Jakarta Sans"/>
              </a:rPr>
              <a:t>Recommendation</a:t>
            </a:r>
            <a:endParaRPr b="1" sz="4000">
              <a:solidFill>
                <a:srgbClr val="F08B33"/>
              </a:solidFill>
              <a:latin typeface="Plus Jakarta Sans"/>
              <a:ea typeface="Plus Jakarta Sans"/>
              <a:cs typeface="Plus Jakarta Sans"/>
              <a:sym typeface="Plus Jakarta Sans"/>
            </a:endParaRPr>
          </a:p>
        </p:txBody>
      </p:sp>
      <p:sp>
        <p:nvSpPr>
          <p:cNvPr id="449" name="Google Shape;449;g3fb2bf11783_0_56"/>
          <p:cNvSpPr txBox="1"/>
          <p:nvPr/>
        </p:nvSpPr>
        <p:spPr>
          <a:xfrm>
            <a:off x="476125" y="1349075"/>
            <a:ext cx="8193300" cy="3186300"/>
          </a:xfrm>
          <a:prstGeom prst="rect">
            <a:avLst/>
          </a:prstGeom>
          <a:noFill/>
          <a:ln>
            <a:noFill/>
          </a:ln>
        </p:spPr>
        <p:txBody>
          <a:bodyPr anchorCtr="0" anchor="t" bIns="91425" lIns="91425" spcFirstLastPara="1" rIns="91425" wrap="square" tIns="91425">
            <a:spAutoFit/>
          </a:bodyPr>
          <a:lstStyle/>
          <a:p>
            <a:pPr indent="-173990" lvl="0" marL="228600" rtl="0" algn="l">
              <a:spcBef>
                <a:spcPts val="0"/>
              </a:spcBef>
              <a:spcAft>
                <a:spcPts val="0"/>
              </a:spcAft>
              <a:buSzPts val="1300"/>
              <a:buFont typeface="Plus Jakarta Sans SemiBold"/>
              <a:buChar char="●"/>
            </a:pPr>
            <a:r>
              <a:rPr lang="en-US" sz="1300" u="sng">
                <a:solidFill>
                  <a:schemeClr val="dk1"/>
                </a:solidFill>
                <a:latin typeface="Plus Jakarta Sans SemiBold"/>
                <a:ea typeface="Plus Jakarta Sans SemiBold"/>
                <a:cs typeface="Plus Jakarta Sans SemiBold"/>
                <a:sym typeface="Plus Jakarta Sans SemiBold"/>
              </a:rPr>
              <a:t>Incremental Load</a:t>
            </a:r>
            <a:r>
              <a:rPr lang="en-US" sz="1300">
                <a:solidFill>
                  <a:schemeClr val="dk1"/>
                </a:solidFill>
                <a:latin typeface="Plus Jakarta Sans SemiBold"/>
                <a:ea typeface="Plus Jakarta Sans SemiBold"/>
                <a:cs typeface="Plus Jakarta Sans SemiBold"/>
                <a:sym typeface="Plus Jakarta Sans SemiBold"/>
              </a:rPr>
              <a:t> : Pipeline saat ini melakukan satu kali full load, bukan simulasi ingestion bulanan yang realistis. Pengembangan kedepan sebaiknya mendukung incremental loading agar lebih mencerminkan kondisi operasional yang sesungguhnya. </a:t>
            </a:r>
            <a:endParaRPr sz="1300">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sz="1300">
              <a:solidFill>
                <a:schemeClr val="dk1"/>
              </a:solidFill>
              <a:latin typeface="Plus Jakarta Sans SemiBold"/>
              <a:ea typeface="Plus Jakarta Sans SemiBold"/>
              <a:cs typeface="Plus Jakarta Sans SemiBold"/>
              <a:sym typeface="Plus Jakarta Sans SemiBold"/>
            </a:endParaRPr>
          </a:p>
          <a:p>
            <a:pPr indent="-173990" lvl="0" marL="228600" rtl="0" algn="l">
              <a:spcBef>
                <a:spcPts val="0"/>
              </a:spcBef>
              <a:spcAft>
                <a:spcPts val="0"/>
              </a:spcAft>
              <a:buSzPts val="1300"/>
              <a:buFont typeface="Plus Jakarta Sans SemiBold"/>
              <a:buChar char="●"/>
            </a:pPr>
            <a:r>
              <a:rPr lang="en-US" sz="1300" u="sng">
                <a:solidFill>
                  <a:schemeClr val="dk1"/>
                </a:solidFill>
                <a:latin typeface="Plus Jakarta Sans SemiBold"/>
                <a:ea typeface="Plus Jakarta Sans SemiBold"/>
                <a:cs typeface="Plus Jakarta Sans SemiBold"/>
                <a:sym typeface="Plus Jakarta Sans SemiBold"/>
              </a:rPr>
              <a:t>Error Handling &amp; Monitoring</a:t>
            </a:r>
            <a:r>
              <a:rPr lang="en-US" sz="1300">
                <a:solidFill>
                  <a:schemeClr val="dk1"/>
                </a:solidFill>
                <a:latin typeface="Plus Jakarta Sans SemiBold"/>
                <a:ea typeface="Plus Jakarta Sans SemiBold"/>
                <a:cs typeface="Plus Jakarta Sans SemiBold"/>
                <a:sym typeface="Plus Jakarta Sans SemiBold"/>
              </a:rPr>
              <a:t> : Menambahkan mekanisme retry pada level DAG/task serta notifikasi kegagalan (misalnya melalui email atau Slack), sehingga kegagalan pipeline dapat terdeteksi segera, bukan ditemukan secara manual.</a:t>
            </a:r>
            <a:endParaRPr sz="1300">
              <a:solidFill>
                <a:schemeClr val="dk1"/>
              </a:solidFill>
              <a:latin typeface="Plus Jakarta Sans SemiBold"/>
              <a:ea typeface="Plus Jakarta Sans SemiBold"/>
              <a:cs typeface="Plus Jakarta Sans SemiBold"/>
              <a:sym typeface="Plus Jakarta Sans SemiBold"/>
            </a:endParaRPr>
          </a:p>
          <a:p>
            <a:pPr indent="0" lvl="0" marL="457200" rtl="0" algn="l">
              <a:spcBef>
                <a:spcPts val="0"/>
              </a:spcBef>
              <a:spcAft>
                <a:spcPts val="0"/>
              </a:spcAft>
              <a:buNone/>
            </a:pPr>
            <a:r>
              <a:t/>
            </a:r>
            <a:endParaRPr sz="1300">
              <a:solidFill>
                <a:schemeClr val="dk1"/>
              </a:solidFill>
              <a:latin typeface="Plus Jakarta Sans SemiBold"/>
              <a:ea typeface="Plus Jakarta Sans SemiBold"/>
              <a:cs typeface="Plus Jakarta Sans SemiBold"/>
              <a:sym typeface="Plus Jakarta Sans SemiBold"/>
            </a:endParaRPr>
          </a:p>
          <a:p>
            <a:pPr indent="-173990" lvl="0" marL="228600" rtl="0" algn="l">
              <a:spcBef>
                <a:spcPts val="0"/>
              </a:spcBef>
              <a:spcAft>
                <a:spcPts val="0"/>
              </a:spcAft>
              <a:buSzPts val="1300"/>
              <a:buFont typeface="Plus Jakarta Sans SemiBold"/>
              <a:buChar char="●"/>
            </a:pPr>
            <a:r>
              <a:rPr lang="en-US" sz="1300" u="sng">
                <a:solidFill>
                  <a:schemeClr val="dk1"/>
                </a:solidFill>
                <a:latin typeface="Plus Jakarta Sans SemiBold"/>
                <a:ea typeface="Plus Jakarta Sans SemiBold"/>
                <a:cs typeface="Plus Jakarta Sans SemiBold"/>
                <a:sym typeface="Plus Jakarta Sans SemiBold"/>
              </a:rPr>
              <a:t>Skalabilitas </a:t>
            </a:r>
            <a:r>
              <a:rPr lang="en-US" sz="1300">
                <a:solidFill>
                  <a:schemeClr val="dk1"/>
                </a:solidFill>
                <a:latin typeface="Plus Jakarta Sans SemiBold"/>
                <a:ea typeface="Plus Jakarta Sans SemiBold"/>
                <a:cs typeface="Plus Jakarta Sans SemiBold"/>
                <a:sym typeface="Plus Jakarta Sans SemiBold"/>
              </a:rPr>
              <a:t>: PostgreSQL dan transformasi berbasis Python sudah memadai untuk volume data Olist, namun perlu beralih ke engine terdistribusi (misalnya Apache Spark) apabila volume data meningkat signifikan.</a:t>
            </a:r>
            <a:br>
              <a:rPr lang="en-US" sz="1300">
                <a:solidFill>
                  <a:schemeClr val="dk1"/>
                </a:solidFill>
                <a:latin typeface="Plus Jakarta Sans SemiBold"/>
                <a:ea typeface="Plus Jakarta Sans SemiBold"/>
                <a:cs typeface="Plus Jakarta Sans SemiBold"/>
                <a:sym typeface="Plus Jakarta Sans SemiBold"/>
              </a:rPr>
            </a:br>
            <a:endParaRPr sz="1300">
              <a:solidFill>
                <a:schemeClr val="dk1"/>
              </a:solidFill>
              <a:latin typeface="Plus Jakarta Sans SemiBold"/>
              <a:ea typeface="Plus Jakarta Sans SemiBold"/>
              <a:cs typeface="Plus Jakarta Sans SemiBold"/>
              <a:sym typeface="Plus Jakarta Sans SemiBold"/>
            </a:endParaRPr>
          </a:p>
          <a:p>
            <a:pPr indent="-173990" lvl="0" marL="228600" rtl="0" algn="l">
              <a:spcBef>
                <a:spcPts val="0"/>
              </a:spcBef>
              <a:spcAft>
                <a:spcPts val="0"/>
              </a:spcAft>
              <a:buSzPts val="1300"/>
              <a:buFont typeface="Plus Jakarta Sans SemiBold"/>
              <a:buChar char="●"/>
            </a:pPr>
            <a:r>
              <a:rPr lang="en-US" sz="1300" u="sng">
                <a:solidFill>
                  <a:schemeClr val="dk1"/>
                </a:solidFill>
                <a:latin typeface="Plus Jakarta Sans SemiBold"/>
                <a:ea typeface="Plus Jakarta Sans SemiBold"/>
                <a:cs typeface="Plus Jakarta Sans SemiBold"/>
                <a:sym typeface="Plus Jakarta Sans SemiBold"/>
              </a:rPr>
              <a:t>Forecasting </a:t>
            </a:r>
            <a:r>
              <a:rPr lang="en-US" sz="1300">
                <a:solidFill>
                  <a:schemeClr val="dk1"/>
                </a:solidFill>
                <a:latin typeface="Plus Jakarta Sans SemiBold"/>
                <a:ea typeface="Plus Jakarta Sans SemiBold"/>
                <a:cs typeface="Plus Jakarta Sans SemiBold"/>
                <a:sym typeface="Plus Jakarta Sans SemiBold"/>
              </a:rPr>
              <a:t>: Mengembangkan gold layer dari mart deskriptif menuju mart prediktif — misalnya forecast tren delay atau skor risiko seller — agar dashboard mendukung pengambilan keputusan yang proaktif, bukan hanya retrospektif. </a:t>
            </a:r>
            <a:endParaRPr sz="1300">
              <a:solidFill>
                <a:schemeClr val="dk1"/>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53" name="Shape 453"/>
        <p:cNvGrpSpPr/>
        <p:nvPr/>
      </p:nvGrpSpPr>
      <p:grpSpPr>
        <a:xfrm>
          <a:off x="0" y="0"/>
          <a:ext cx="0" cy="0"/>
          <a:chOff x="0" y="0"/>
          <a:chExt cx="0" cy="0"/>
        </a:xfrm>
      </p:grpSpPr>
      <p:sp>
        <p:nvSpPr>
          <p:cNvPr id="454" name="Google Shape;454;g26585e5a41e_0_428"/>
          <p:cNvSpPr txBox="1"/>
          <p:nvPr>
            <p:ph type="ctrTitle"/>
          </p:nvPr>
        </p:nvSpPr>
        <p:spPr>
          <a:xfrm>
            <a:off x="4863675" y="2298950"/>
            <a:ext cx="4281900" cy="1363800"/>
          </a:xfrm>
          <a:prstGeom prst="rect">
            <a:avLst/>
          </a:prstGeom>
          <a:noFill/>
          <a:ln>
            <a:noFill/>
          </a:ln>
        </p:spPr>
        <p:txBody>
          <a:bodyPr anchorCtr="0" anchor="b" bIns="91450" lIns="91450" spcFirstLastPara="1" rIns="91450" wrap="square" tIns="91450">
            <a:normAutofit fontScale="90000"/>
          </a:bodyPr>
          <a:lstStyle/>
          <a:p>
            <a:pPr indent="0" lvl="0" marL="0" rtl="0" algn="l">
              <a:lnSpc>
                <a:spcPct val="85000"/>
              </a:lnSpc>
              <a:spcBef>
                <a:spcPts val="0"/>
              </a:spcBef>
              <a:spcAft>
                <a:spcPts val="0"/>
              </a:spcAft>
              <a:buSzPct val="120369"/>
              <a:buNone/>
            </a:pPr>
            <a:r>
              <a:rPr b="1" lang="en-US" sz="4800">
                <a:latin typeface="Plus Jakarta Sans"/>
                <a:ea typeface="Plus Jakarta Sans"/>
                <a:cs typeface="Plus Jakarta Sans"/>
                <a:sym typeface="Plus Jakarta Sans"/>
              </a:rPr>
              <a:t>Terima </a:t>
            </a:r>
            <a:endParaRPr b="1" sz="4800">
              <a:latin typeface="Plus Jakarta Sans"/>
              <a:ea typeface="Plus Jakarta Sans"/>
              <a:cs typeface="Plus Jakarta Sans"/>
              <a:sym typeface="Plus Jakarta Sans"/>
            </a:endParaRPr>
          </a:p>
          <a:p>
            <a:pPr indent="0" lvl="0" marL="0" rtl="0" algn="l">
              <a:lnSpc>
                <a:spcPct val="85000"/>
              </a:lnSpc>
              <a:spcBef>
                <a:spcPts val="0"/>
              </a:spcBef>
              <a:spcAft>
                <a:spcPts val="0"/>
              </a:spcAft>
              <a:buSzPct val="120369"/>
              <a:buNone/>
            </a:pPr>
            <a:r>
              <a:rPr b="1" lang="en-US" sz="4800">
                <a:latin typeface="Plus Jakarta Sans"/>
                <a:ea typeface="Plus Jakarta Sans"/>
                <a:cs typeface="Plus Jakarta Sans"/>
                <a:sym typeface="Plus Jakarta Sans"/>
              </a:rPr>
              <a:t>Kasih.</a:t>
            </a:r>
            <a:endParaRPr b="1" sz="4800">
              <a:latin typeface="Plus Jakarta Sans"/>
              <a:ea typeface="Plus Jakarta Sans"/>
              <a:cs typeface="Plus Jakarta Sans"/>
              <a:sym typeface="Plus Jakarta Sans"/>
            </a:endParaRPr>
          </a:p>
        </p:txBody>
      </p:sp>
      <p:grpSp>
        <p:nvGrpSpPr>
          <p:cNvPr id="455" name="Google Shape;455;g26585e5a41e_0_428"/>
          <p:cNvGrpSpPr/>
          <p:nvPr/>
        </p:nvGrpSpPr>
        <p:grpSpPr>
          <a:xfrm>
            <a:off x="162" y="-214211"/>
            <a:ext cx="2765532" cy="2691752"/>
            <a:chOff x="9584423" y="-302695"/>
            <a:chExt cx="4822201" cy="4822201"/>
          </a:xfrm>
        </p:grpSpPr>
        <p:sp>
          <p:nvSpPr>
            <p:cNvPr id="456" name="Google Shape;456;g26585e5a41e_0_428"/>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7" name="Google Shape;457;g26585e5a41e_0_428"/>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8" name="Google Shape;458;g26585e5a41e_0_428"/>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9" name="Google Shape;459;g26585e5a41e_0_428"/>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460" name="Google Shape;460;g26585e5a41e_0_428"/>
          <p:cNvGrpSpPr/>
          <p:nvPr/>
        </p:nvGrpSpPr>
        <p:grpSpPr>
          <a:xfrm>
            <a:off x="-840830" y="1116257"/>
            <a:ext cx="5795400" cy="5795400"/>
            <a:chOff x="4094945" y="667082"/>
            <a:chExt cx="5795400" cy="5795400"/>
          </a:xfrm>
        </p:grpSpPr>
        <p:sp>
          <p:nvSpPr>
            <p:cNvPr id="461" name="Google Shape;461;g26585e5a41e_0_428"/>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62" name="Google Shape;462;g26585e5a41e_0_428"/>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63" name="Google Shape;463;g26585e5a41e_0_428"/>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64" name="Google Shape;464;g26585e5a41e_0_428"/>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465" name="Google Shape;465;g26585e5a41e_0_42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66" name="Google Shape;466;g26585e5a41e_0_428"/>
          <p:cNvSpPr txBox="1"/>
          <p:nvPr/>
        </p:nvSpPr>
        <p:spPr>
          <a:xfrm>
            <a:off x="4863675" y="3662750"/>
            <a:ext cx="4281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2"/>
                </a:solidFill>
                <a:latin typeface="Plus Jakarta Sans SemiBold"/>
                <a:ea typeface="Plus Jakarta Sans SemiBold"/>
                <a:cs typeface="Plus Jakarta Sans SemiBold"/>
                <a:sym typeface="Plus Jakarta Sans SemiBold"/>
              </a:rPr>
              <a:t>linkedin:</a:t>
            </a:r>
            <a:endParaRPr sz="1200">
              <a:solidFill>
                <a:schemeClr val="dk2"/>
              </a:solidFill>
              <a:latin typeface="Plus Jakarta Sans SemiBold"/>
              <a:ea typeface="Plus Jakarta Sans SemiBold"/>
              <a:cs typeface="Plus Jakarta Sans SemiBold"/>
              <a:sym typeface="Plus Jakarta Sans SemiBold"/>
            </a:endParaRPr>
          </a:p>
          <a:p>
            <a:pPr indent="0" lvl="0" marL="0" rtl="0" algn="l">
              <a:spcBef>
                <a:spcPts val="0"/>
              </a:spcBef>
              <a:spcAft>
                <a:spcPts val="0"/>
              </a:spcAft>
              <a:buNone/>
            </a:pPr>
            <a:r>
              <a:rPr lang="en-US" sz="1200" u="sng">
                <a:solidFill>
                  <a:schemeClr val="hlink"/>
                </a:solidFill>
                <a:latin typeface="Plus Jakarta Sans SemiBold"/>
                <a:ea typeface="Plus Jakarta Sans SemiBold"/>
                <a:cs typeface="Plus Jakarta Sans SemiBold"/>
                <a:sym typeface="Plus Jakarta Sans SemiBold"/>
                <a:hlinkClick r:id="rId4"/>
              </a:rPr>
              <a:t>https://www.linkedin.com/in/ahmad-izzan-kautsar/</a:t>
            </a:r>
            <a:endParaRPr sz="1200">
              <a:solidFill>
                <a:schemeClr val="dk2"/>
              </a:solidFill>
              <a:latin typeface="Plus Jakarta Sans SemiBold"/>
              <a:ea typeface="Plus Jakarta Sans SemiBold"/>
              <a:cs typeface="Plus Jakarta Sans SemiBold"/>
              <a:sym typeface="Plus Jakarta Sans SemiBold"/>
            </a:endParaRPr>
          </a:p>
          <a:p>
            <a:pPr indent="0" lvl="0" marL="0" rtl="0" algn="l">
              <a:spcBef>
                <a:spcPts val="0"/>
              </a:spcBef>
              <a:spcAft>
                <a:spcPts val="0"/>
              </a:spcAft>
              <a:buNone/>
            </a:pPr>
            <a:r>
              <a:rPr lang="en-US" sz="1200">
                <a:solidFill>
                  <a:schemeClr val="dk2"/>
                </a:solidFill>
                <a:latin typeface="Plus Jakarta Sans SemiBold"/>
                <a:ea typeface="Plus Jakarta Sans SemiBold"/>
                <a:cs typeface="Plus Jakarta Sans SemiBold"/>
                <a:sym typeface="Plus Jakarta Sans SemiBold"/>
              </a:rPr>
              <a:t>project github:</a:t>
            </a:r>
            <a:endParaRPr sz="1200">
              <a:solidFill>
                <a:schemeClr val="dk2"/>
              </a:solidFill>
              <a:latin typeface="Plus Jakarta Sans SemiBold"/>
              <a:ea typeface="Plus Jakarta Sans SemiBold"/>
              <a:cs typeface="Plus Jakarta Sans SemiBold"/>
              <a:sym typeface="Plus Jakarta Sans SemiBold"/>
            </a:endParaRPr>
          </a:p>
          <a:p>
            <a:pPr indent="0" lvl="0" marL="0" rtl="0" algn="l">
              <a:spcBef>
                <a:spcPts val="0"/>
              </a:spcBef>
              <a:spcAft>
                <a:spcPts val="0"/>
              </a:spcAft>
              <a:buNone/>
            </a:pPr>
            <a:r>
              <a:rPr lang="en-US" sz="1200" u="sng">
                <a:solidFill>
                  <a:schemeClr val="hlink"/>
                </a:solidFill>
                <a:latin typeface="Plus Jakarta Sans SemiBold"/>
                <a:ea typeface="Plus Jakarta Sans SemiBold"/>
                <a:cs typeface="Plus Jakarta Sans SemiBold"/>
                <a:sym typeface="Plus Jakarta Sans SemiBold"/>
                <a:hlinkClick r:id="rId5"/>
              </a:rPr>
              <a:t>https://github.com/ahmadizzan9/olist-delivery-delay-pipeline.git</a:t>
            </a:r>
            <a:r>
              <a:rPr lang="en-US" sz="1200">
                <a:solidFill>
                  <a:schemeClr val="dk2"/>
                </a:solidFill>
                <a:latin typeface="Plus Jakarta Sans SemiBold"/>
                <a:ea typeface="Plus Jakarta Sans SemiBold"/>
                <a:cs typeface="Plus Jakarta Sans SemiBold"/>
                <a:sym typeface="Plus Jakarta Sans SemiBold"/>
              </a:rPr>
              <a:t> </a:t>
            </a:r>
            <a:endParaRPr sz="1200">
              <a:solidFill>
                <a:schemeClr val="dk2"/>
              </a:solidFill>
              <a:latin typeface="Plus Jakarta Sans SemiBold"/>
              <a:ea typeface="Plus Jakarta Sans SemiBold"/>
              <a:cs typeface="Plus Jakarta Sans SemiBold"/>
              <a:sym typeface="Plus Jakarta Sans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2021-01-14T04:03:51Z</dcterms:created>
  <dc:creator>SINAR X</dc:creator>
</cp:coreProperties>
</file>